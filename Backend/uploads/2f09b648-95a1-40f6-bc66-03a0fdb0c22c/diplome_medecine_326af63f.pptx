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Alexandria"/>
      <p:regular r:id="rId17"/>
    </p:embeddedFont>
    <p:embeddedFont>
      <p:font typeface="Alexandria"/>
      <p:regular r:id="rId18"/>
    </p:embeddedFont>
    <p:embeddedFont>
      <p:font typeface="Nobile"/>
      <p:regular r:id="rId19"/>
    </p:embeddedFont>
    <p:embeddedFont>
      <p:font typeface="Nobile"/>
      <p:regular r:id="rId20"/>
    </p:embeddedFont>
    <p:embeddedFont>
      <p:font typeface="Nobile"/>
      <p:regular r:id="rId21"/>
    </p:embeddedFont>
    <p:embeddedFont>
      <p:font typeface="Nobile"/>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373267"/>
            <a:ext cx="7556421" cy="3543895"/>
          </a:xfrm>
          <a:prstGeom prst="rect">
            <a:avLst/>
          </a:prstGeom>
          <a:noFill/>
          <a:ln/>
        </p:spPr>
        <p:txBody>
          <a:bodyPr wrap="square" lIns="0" tIns="0" rIns="0" bIns="0" rtlCol="0" anchor="t"/>
          <a:lstStyle/>
          <a:p>
            <a:pPr algn="l" indent="0" marL="0">
              <a:lnSpc>
                <a:spcPts val="5550"/>
              </a:lnSpc>
              <a:buNone/>
            </a:pPr>
            <a:r>
              <a:rPr lang="en-US" sz="4450" dirty="0">
                <a:solidFill>
                  <a:srgbClr val="1B1B27"/>
                </a:solidFill>
                <a:latin typeface="Alexandria" pitchFamily="34" charset="0"/>
                <a:ea typeface="Alexandria" pitchFamily="34" charset="-122"/>
                <a:cs typeface="Alexandria" pitchFamily="34" charset="-120"/>
              </a:rPr>
              <a:t>Conception d'une Application d'Aide au Diagnostic de la Pneumonie par Intelligence Artificielle</a:t>
            </a:r>
            <a:endParaRPr lang="en-US" sz="4450" dirty="0"/>
          </a:p>
        </p:txBody>
      </p:sp>
      <p:sp>
        <p:nvSpPr>
          <p:cNvPr id="4" name="Text 1"/>
          <p:cNvSpPr/>
          <p:nvPr/>
        </p:nvSpPr>
        <p:spPr>
          <a:xfrm>
            <a:off x="6280190" y="5257324"/>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Équipe : Les Génies de la Nation</a:t>
            </a:r>
            <a:endParaRPr lang="en-US" sz="1750" dirty="0"/>
          </a:p>
        </p:txBody>
      </p:sp>
      <p:sp>
        <p:nvSpPr>
          <p:cNvPr id="5" name="Text 2"/>
          <p:cNvSpPr/>
          <p:nvPr/>
        </p:nvSpPr>
        <p:spPr>
          <a:xfrm>
            <a:off x="6280190" y="5875377"/>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IUT de Douala, Université de Douala</a:t>
            </a:r>
            <a:endParaRPr lang="en-US" sz="1750" dirty="0"/>
          </a:p>
        </p:txBody>
      </p:sp>
      <p:sp>
        <p:nvSpPr>
          <p:cNvPr id="6" name="Text 3"/>
          <p:cNvSpPr/>
          <p:nvPr/>
        </p:nvSpPr>
        <p:spPr>
          <a:xfrm>
            <a:off x="6280190" y="6493431"/>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Date : 25 octobre 2024</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726168"/>
            <a:ext cx="6534983" cy="708779"/>
          </a:xfrm>
          <a:prstGeom prst="rect">
            <a:avLst/>
          </a:prstGeom>
          <a:noFill/>
          <a:ln/>
        </p:spPr>
        <p:txBody>
          <a:bodyPr wrap="none" lIns="0" tIns="0" rIns="0" bIns="0" rtlCol="0" anchor="t"/>
          <a:lstStyle/>
          <a:p>
            <a:pPr algn="l" indent="0" marL="0">
              <a:lnSpc>
                <a:spcPts val="5550"/>
              </a:lnSpc>
              <a:buNone/>
            </a:pPr>
            <a:r>
              <a:rPr lang="en-US" sz="4450" dirty="0">
                <a:solidFill>
                  <a:srgbClr val="1B1B27"/>
                </a:solidFill>
                <a:latin typeface="Alexandria" pitchFamily="34" charset="0"/>
                <a:ea typeface="Alexandria" pitchFamily="34" charset="-122"/>
                <a:cs typeface="Alexandria" pitchFamily="34" charset="-120"/>
              </a:rPr>
              <a:t>Plan de la Présentation</a:t>
            </a:r>
            <a:endParaRPr lang="en-US" sz="4450" dirty="0"/>
          </a:p>
        </p:txBody>
      </p:sp>
      <p:sp>
        <p:nvSpPr>
          <p:cNvPr id="3" name="Text 1"/>
          <p:cNvSpPr/>
          <p:nvPr/>
        </p:nvSpPr>
        <p:spPr>
          <a:xfrm>
            <a:off x="793790" y="2888575"/>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404155"/>
                </a:solidFill>
                <a:latin typeface="Alexandria Light" pitchFamily="34" charset="0"/>
                <a:ea typeface="Alexandria Light" pitchFamily="34" charset="-122"/>
                <a:cs typeface="Alexandria Light" pitchFamily="34" charset="-120"/>
              </a:rPr>
              <a:t>01</a:t>
            </a:r>
            <a:endParaRPr lang="en-US" sz="1750" dirty="0"/>
          </a:p>
        </p:txBody>
      </p:sp>
      <p:sp>
        <p:nvSpPr>
          <p:cNvPr id="4" name="Shape 2"/>
          <p:cNvSpPr/>
          <p:nvPr/>
        </p:nvSpPr>
        <p:spPr>
          <a:xfrm>
            <a:off x="793790" y="3243620"/>
            <a:ext cx="6407944" cy="30480"/>
          </a:xfrm>
          <a:prstGeom prst="rect">
            <a:avLst/>
          </a:prstGeom>
          <a:solidFill>
            <a:srgbClr val="1B54DA"/>
          </a:solidFill>
          <a:ln/>
        </p:spPr>
      </p:sp>
      <p:sp>
        <p:nvSpPr>
          <p:cNvPr id="5" name="Text 3"/>
          <p:cNvSpPr/>
          <p:nvPr/>
        </p:nvSpPr>
        <p:spPr>
          <a:xfrm>
            <a:off x="793790" y="3417927"/>
            <a:ext cx="3478649" cy="354330"/>
          </a:xfrm>
          <a:prstGeom prst="rect">
            <a:avLst/>
          </a:prstGeom>
          <a:noFill/>
          <a:ln/>
        </p:spPr>
        <p:txBody>
          <a:bodyPr wrap="none" lIns="0" tIns="0" rIns="0" bIns="0" rtlCol="0" anchor="t"/>
          <a:lstStyle/>
          <a:p>
            <a:pPr algn="l" indent="0" marL="0">
              <a:lnSpc>
                <a:spcPts val="2750"/>
              </a:lnSpc>
              <a:buNone/>
            </a:pPr>
            <a:r>
              <a:rPr lang="en-US" sz="2200" dirty="0">
                <a:solidFill>
                  <a:srgbClr val="404155"/>
                </a:solidFill>
                <a:latin typeface="Alexandria" pitchFamily="34" charset="0"/>
                <a:ea typeface="Alexandria" pitchFamily="34" charset="-122"/>
                <a:cs typeface="Alexandria" pitchFamily="34" charset="-120"/>
              </a:rPr>
              <a:t>Introduction et Contexte</a:t>
            </a:r>
            <a:endParaRPr lang="en-US" sz="2200" dirty="0"/>
          </a:p>
        </p:txBody>
      </p:sp>
      <p:sp>
        <p:nvSpPr>
          <p:cNvPr id="6" name="Text 4"/>
          <p:cNvSpPr/>
          <p:nvPr/>
        </p:nvSpPr>
        <p:spPr>
          <a:xfrm>
            <a:off x="7428548" y="2888575"/>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404155"/>
                </a:solidFill>
                <a:latin typeface="Alexandria Light" pitchFamily="34" charset="0"/>
                <a:ea typeface="Alexandria Light" pitchFamily="34" charset="-122"/>
                <a:cs typeface="Alexandria Light" pitchFamily="34" charset="-120"/>
              </a:rPr>
              <a:t>02</a:t>
            </a:r>
            <a:endParaRPr lang="en-US" sz="1750" dirty="0"/>
          </a:p>
        </p:txBody>
      </p:sp>
      <p:sp>
        <p:nvSpPr>
          <p:cNvPr id="7" name="Shape 5"/>
          <p:cNvSpPr/>
          <p:nvPr/>
        </p:nvSpPr>
        <p:spPr>
          <a:xfrm>
            <a:off x="7428548" y="3243620"/>
            <a:ext cx="6408063" cy="30480"/>
          </a:xfrm>
          <a:prstGeom prst="rect">
            <a:avLst/>
          </a:prstGeom>
          <a:solidFill>
            <a:srgbClr val="1B54DA"/>
          </a:solidFill>
          <a:ln/>
        </p:spPr>
      </p:sp>
      <p:sp>
        <p:nvSpPr>
          <p:cNvPr id="8" name="Text 6"/>
          <p:cNvSpPr/>
          <p:nvPr/>
        </p:nvSpPr>
        <p:spPr>
          <a:xfrm>
            <a:off x="7428548" y="3417927"/>
            <a:ext cx="5307330" cy="354330"/>
          </a:xfrm>
          <a:prstGeom prst="rect">
            <a:avLst/>
          </a:prstGeom>
          <a:noFill/>
          <a:ln/>
        </p:spPr>
        <p:txBody>
          <a:bodyPr wrap="none" lIns="0" tIns="0" rIns="0" bIns="0" rtlCol="0" anchor="t"/>
          <a:lstStyle/>
          <a:p>
            <a:pPr algn="l" indent="0" marL="0">
              <a:lnSpc>
                <a:spcPts val="2750"/>
              </a:lnSpc>
              <a:buNone/>
            </a:pPr>
            <a:r>
              <a:rPr lang="en-US" sz="2200" dirty="0">
                <a:solidFill>
                  <a:srgbClr val="404155"/>
                </a:solidFill>
                <a:latin typeface="Alexandria" pitchFamily="34" charset="0"/>
                <a:ea typeface="Alexandria" pitchFamily="34" charset="-122"/>
                <a:cs typeface="Alexandria" pitchFamily="34" charset="-120"/>
              </a:rPr>
              <a:t>La Solution Proposée et sa Pertinence</a:t>
            </a:r>
            <a:endParaRPr lang="en-US" sz="2200" dirty="0"/>
          </a:p>
        </p:txBody>
      </p:sp>
      <p:sp>
        <p:nvSpPr>
          <p:cNvPr id="9" name="Text 7"/>
          <p:cNvSpPr/>
          <p:nvPr/>
        </p:nvSpPr>
        <p:spPr>
          <a:xfrm>
            <a:off x="793790" y="4169093"/>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404155"/>
                </a:solidFill>
                <a:latin typeface="Alexandria Light" pitchFamily="34" charset="0"/>
                <a:ea typeface="Alexandria Light" pitchFamily="34" charset="-122"/>
                <a:cs typeface="Alexandria Light" pitchFamily="34" charset="-120"/>
              </a:rPr>
              <a:t>03</a:t>
            </a:r>
            <a:endParaRPr lang="en-US" sz="1750" dirty="0"/>
          </a:p>
        </p:txBody>
      </p:sp>
      <p:sp>
        <p:nvSpPr>
          <p:cNvPr id="10" name="Shape 8"/>
          <p:cNvSpPr/>
          <p:nvPr/>
        </p:nvSpPr>
        <p:spPr>
          <a:xfrm>
            <a:off x="793790" y="4524137"/>
            <a:ext cx="6407944" cy="30480"/>
          </a:xfrm>
          <a:prstGeom prst="rect">
            <a:avLst/>
          </a:prstGeom>
          <a:solidFill>
            <a:srgbClr val="1B54DA"/>
          </a:solidFill>
          <a:ln/>
        </p:spPr>
      </p:sp>
      <p:sp>
        <p:nvSpPr>
          <p:cNvPr id="11" name="Text 9"/>
          <p:cNvSpPr/>
          <p:nvPr/>
        </p:nvSpPr>
        <p:spPr>
          <a:xfrm>
            <a:off x="793790" y="4698444"/>
            <a:ext cx="4006929" cy="354330"/>
          </a:xfrm>
          <a:prstGeom prst="rect">
            <a:avLst/>
          </a:prstGeom>
          <a:noFill/>
          <a:ln/>
        </p:spPr>
        <p:txBody>
          <a:bodyPr wrap="none" lIns="0" tIns="0" rIns="0" bIns="0" rtlCol="0" anchor="t"/>
          <a:lstStyle/>
          <a:p>
            <a:pPr algn="l" indent="0" marL="0">
              <a:lnSpc>
                <a:spcPts val="2750"/>
              </a:lnSpc>
              <a:buNone/>
            </a:pPr>
            <a:r>
              <a:rPr lang="en-US" sz="2200" dirty="0">
                <a:solidFill>
                  <a:srgbClr val="404155"/>
                </a:solidFill>
                <a:latin typeface="Alexandria" pitchFamily="34" charset="0"/>
                <a:ea typeface="Alexandria" pitchFamily="34" charset="-122"/>
                <a:cs typeface="Alexandria" pitchFamily="34" charset="-120"/>
              </a:rPr>
              <a:t>Innovation et Valeur Ajoutée</a:t>
            </a:r>
            <a:endParaRPr lang="en-US" sz="2200" dirty="0"/>
          </a:p>
        </p:txBody>
      </p:sp>
      <p:sp>
        <p:nvSpPr>
          <p:cNvPr id="12" name="Text 10"/>
          <p:cNvSpPr/>
          <p:nvPr/>
        </p:nvSpPr>
        <p:spPr>
          <a:xfrm>
            <a:off x="7428548" y="4169093"/>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404155"/>
                </a:solidFill>
                <a:latin typeface="Alexandria Light" pitchFamily="34" charset="0"/>
                <a:ea typeface="Alexandria Light" pitchFamily="34" charset="-122"/>
                <a:cs typeface="Alexandria Light" pitchFamily="34" charset="-120"/>
              </a:rPr>
              <a:t>04</a:t>
            </a:r>
            <a:endParaRPr lang="en-US" sz="1750" dirty="0"/>
          </a:p>
        </p:txBody>
      </p:sp>
      <p:sp>
        <p:nvSpPr>
          <p:cNvPr id="13" name="Shape 11"/>
          <p:cNvSpPr/>
          <p:nvPr/>
        </p:nvSpPr>
        <p:spPr>
          <a:xfrm>
            <a:off x="7428548" y="4524137"/>
            <a:ext cx="6408063" cy="30480"/>
          </a:xfrm>
          <a:prstGeom prst="rect">
            <a:avLst/>
          </a:prstGeom>
          <a:solidFill>
            <a:srgbClr val="1B54DA"/>
          </a:solidFill>
          <a:ln/>
        </p:spPr>
      </p:sp>
      <p:sp>
        <p:nvSpPr>
          <p:cNvPr id="14" name="Text 12"/>
          <p:cNvSpPr/>
          <p:nvPr/>
        </p:nvSpPr>
        <p:spPr>
          <a:xfrm>
            <a:off x="7428548" y="4698444"/>
            <a:ext cx="2932390" cy="354330"/>
          </a:xfrm>
          <a:prstGeom prst="rect">
            <a:avLst/>
          </a:prstGeom>
          <a:noFill/>
          <a:ln/>
        </p:spPr>
        <p:txBody>
          <a:bodyPr wrap="none" lIns="0" tIns="0" rIns="0" bIns="0" rtlCol="0" anchor="t"/>
          <a:lstStyle/>
          <a:p>
            <a:pPr algn="l" indent="0" marL="0">
              <a:lnSpc>
                <a:spcPts val="2750"/>
              </a:lnSpc>
              <a:buNone/>
            </a:pPr>
            <a:r>
              <a:rPr lang="en-US" sz="2200" dirty="0">
                <a:solidFill>
                  <a:srgbClr val="404155"/>
                </a:solidFill>
                <a:latin typeface="Alexandria" pitchFamily="34" charset="0"/>
                <a:ea typeface="Alexandria" pitchFamily="34" charset="-122"/>
                <a:cs typeface="Alexandria" pitchFamily="34" charset="-120"/>
              </a:rPr>
              <a:t>Réalisation du Projet</a:t>
            </a:r>
            <a:endParaRPr lang="en-US" sz="2200" dirty="0"/>
          </a:p>
        </p:txBody>
      </p:sp>
      <p:sp>
        <p:nvSpPr>
          <p:cNvPr id="15" name="Text 13"/>
          <p:cNvSpPr/>
          <p:nvPr/>
        </p:nvSpPr>
        <p:spPr>
          <a:xfrm>
            <a:off x="793790" y="5449610"/>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404155"/>
                </a:solidFill>
                <a:latin typeface="Alexandria Light" pitchFamily="34" charset="0"/>
                <a:ea typeface="Alexandria Light" pitchFamily="34" charset="-122"/>
                <a:cs typeface="Alexandria Light" pitchFamily="34" charset="-120"/>
              </a:rPr>
              <a:t>05</a:t>
            </a:r>
            <a:endParaRPr lang="en-US" sz="1750" dirty="0"/>
          </a:p>
        </p:txBody>
      </p:sp>
      <p:sp>
        <p:nvSpPr>
          <p:cNvPr id="16" name="Shape 14"/>
          <p:cNvSpPr/>
          <p:nvPr/>
        </p:nvSpPr>
        <p:spPr>
          <a:xfrm>
            <a:off x="793790" y="5804654"/>
            <a:ext cx="6407944" cy="30480"/>
          </a:xfrm>
          <a:prstGeom prst="rect">
            <a:avLst/>
          </a:prstGeom>
          <a:solidFill>
            <a:srgbClr val="1B54DA"/>
          </a:solidFill>
          <a:ln/>
        </p:spPr>
      </p:sp>
      <p:sp>
        <p:nvSpPr>
          <p:cNvPr id="17" name="Text 15"/>
          <p:cNvSpPr/>
          <p:nvPr/>
        </p:nvSpPr>
        <p:spPr>
          <a:xfrm>
            <a:off x="793790" y="5978962"/>
            <a:ext cx="4916567" cy="354330"/>
          </a:xfrm>
          <a:prstGeom prst="rect">
            <a:avLst/>
          </a:prstGeom>
          <a:noFill/>
          <a:ln/>
        </p:spPr>
        <p:txBody>
          <a:bodyPr wrap="none" lIns="0" tIns="0" rIns="0" bIns="0" rtlCol="0" anchor="t"/>
          <a:lstStyle/>
          <a:p>
            <a:pPr algn="l" indent="0" marL="0">
              <a:lnSpc>
                <a:spcPts val="2750"/>
              </a:lnSpc>
              <a:buNone/>
            </a:pPr>
            <a:r>
              <a:rPr lang="en-US" sz="2200" dirty="0">
                <a:solidFill>
                  <a:srgbClr val="404155"/>
                </a:solidFill>
                <a:latin typeface="Alexandria" pitchFamily="34" charset="0"/>
                <a:ea typeface="Alexandria" pitchFamily="34" charset="-122"/>
                <a:cs typeface="Alexandria" pitchFamily="34" charset="-120"/>
              </a:rPr>
              <a:t>Protection des Données et Éthique</a:t>
            </a:r>
            <a:endParaRPr lang="en-US" sz="2200" dirty="0"/>
          </a:p>
        </p:txBody>
      </p:sp>
      <p:sp>
        <p:nvSpPr>
          <p:cNvPr id="18" name="Text 16"/>
          <p:cNvSpPr/>
          <p:nvPr/>
        </p:nvSpPr>
        <p:spPr>
          <a:xfrm>
            <a:off x="7428548" y="5449610"/>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404155"/>
                </a:solidFill>
                <a:latin typeface="Alexandria Light" pitchFamily="34" charset="0"/>
                <a:ea typeface="Alexandria Light" pitchFamily="34" charset="-122"/>
                <a:cs typeface="Alexandria Light" pitchFamily="34" charset="-120"/>
              </a:rPr>
              <a:t>06</a:t>
            </a:r>
            <a:endParaRPr lang="en-US" sz="1750" dirty="0"/>
          </a:p>
        </p:txBody>
      </p:sp>
      <p:sp>
        <p:nvSpPr>
          <p:cNvPr id="19" name="Shape 17"/>
          <p:cNvSpPr/>
          <p:nvPr/>
        </p:nvSpPr>
        <p:spPr>
          <a:xfrm>
            <a:off x="7428548" y="5804654"/>
            <a:ext cx="6408063" cy="30480"/>
          </a:xfrm>
          <a:prstGeom prst="rect">
            <a:avLst/>
          </a:prstGeom>
          <a:solidFill>
            <a:srgbClr val="1B54DA"/>
          </a:solidFill>
          <a:ln/>
        </p:spPr>
      </p:sp>
      <p:sp>
        <p:nvSpPr>
          <p:cNvPr id="20" name="Text 18"/>
          <p:cNvSpPr/>
          <p:nvPr/>
        </p:nvSpPr>
        <p:spPr>
          <a:xfrm>
            <a:off x="7428548" y="5978962"/>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404155"/>
                </a:solidFill>
                <a:latin typeface="Alexandria" pitchFamily="34" charset="0"/>
                <a:ea typeface="Alexandria" pitchFamily="34" charset="-122"/>
                <a:cs typeface="Alexandria" pitchFamily="34" charset="-120"/>
              </a:rPr>
              <a:t>Conclusion</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155746"/>
            <a:ext cx="7556421" cy="2126337"/>
          </a:xfrm>
          <a:prstGeom prst="rect">
            <a:avLst/>
          </a:prstGeom>
          <a:noFill/>
          <a:ln/>
        </p:spPr>
        <p:txBody>
          <a:bodyPr wrap="square" lIns="0" tIns="0" rIns="0" bIns="0" rtlCol="0" anchor="t"/>
          <a:lstStyle/>
          <a:p>
            <a:pPr algn="l" indent="0" marL="0">
              <a:lnSpc>
                <a:spcPts val="5550"/>
              </a:lnSpc>
              <a:buNone/>
            </a:pPr>
            <a:r>
              <a:rPr lang="en-US" sz="4450" dirty="0">
                <a:solidFill>
                  <a:srgbClr val="1B1B27"/>
                </a:solidFill>
                <a:latin typeface="Alexandria" pitchFamily="34" charset="0"/>
                <a:ea typeface="Alexandria" pitchFamily="34" charset="-122"/>
                <a:cs typeface="Alexandria" pitchFamily="34" charset="-120"/>
              </a:rPr>
              <a:t>Diagnostic de la Pneumonie : Un Défi Majeur au Cameroun</a:t>
            </a:r>
            <a:endParaRPr lang="en-US" sz="4450" dirty="0"/>
          </a:p>
        </p:txBody>
      </p:sp>
      <p:sp>
        <p:nvSpPr>
          <p:cNvPr id="4" name="Text 1"/>
          <p:cNvSpPr/>
          <p:nvPr/>
        </p:nvSpPr>
        <p:spPr>
          <a:xfrm>
            <a:off x="793790" y="4622244"/>
            <a:ext cx="7556421" cy="1451610"/>
          </a:xfrm>
          <a:prstGeom prst="rect">
            <a:avLst/>
          </a:prstGeom>
          <a:noFill/>
          <a:ln/>
        </p:spPr>
        <p:txBody>
          <a:bodyPr wrap="squar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Le diagnostic précoce et précis de la pneumonie est difficile, surtout dans les zones rurales. Le manque de spécialistes et les erreurs de diagnostic sont fréquents. Notre projet s'aligne sur la SND30 pour renforcer le système de santé et réduire la mortalité.</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023342"/>
            <a:ext cx="11808976" cy="708779"/>
          </a:xfrm>
          <a:prstGeom prst="rect">
            <a:avLst/>
          </a:prstGeom>
          <a:noFill/>
          <a:ln/>
        </p:spPr>
        <p:txBody>
          <a:bodyPr wrap="none" lIns="0" tIns="0" rIns="0" bIns="0" rtlCol="0" anchor="t"/>
          <a:lstStyle/>
          <a:p>
            <a:pPr algn="l" indent="0" marL="0">
              <a:lnSpc>
                <a:spcPts val="5550"/>
              </a:lnSpc>
              <a:buNone/>
            </a:pPr>
            <a:r>
              <a:rPr lang="en-US" sz="4450" dirty="0">
                <a:solidFill>
                  <a:srgbClr val="1B1B27"/>
                </a:solidFill>
                <a:latin typeface="Alexandria" pitchFamily="34" charset="0"/>
                <a:ea typeface="Alexandria" pitchFamily="34" charset="-122"/>
                <a:cs typeface="Alexandria" pitchFamily="34" charset="-120"/>
              </a:rPr>
              <a:t>État des Lieux des Solutions Concurrentes</a:t>
            </a:r>
            <a:endParaRPr lang="en-US" sz="4450" dirty="0"/>
          </a:p>
        </p:txBody>
      </p:sp>
      <p:pic>
        <p:nvPicPr>
          <p:cNvPr id="3" name="Image 0" descr="preencoded.png">    </p:cNvPr>
          <p:cNvPicPr>
            <a:picLocks noChangeAspect="1"/>
          </p:cNvPicPr>
          <p:nvPr/>
        </p:nvPicPr>
        <p:blipFill>
          <a:blip r:embed="rId1"/>
          <a:stretch>
            <a:fillRect/>
          </a:stretch>
        </p:blipFill>
        <p:spPr>
          <a:xfrm>
            <a:off x="793790" y="2327434"/>
            <a:ext cx="8284131" cy="4623673"/>
          </a:xfrm>
          <a:prstGeom prst="rect">
            <a:avLst/>
          </a:prstGeom>
        </p:spPr>
      </p:pic>
      <p:sp>
        <p:nvSpPr>
          <p:cNvPr id="4" name="Text 1"/>
          <p:cNvSpPr/>
          <p:nvPr/>
        </p:nvSpPr>
        <p:spPr>
          <a:xfrm>
            <a:off x="9638943" y="2722721"/>
            <a:ext cx="4205168" cy="2540318"/>
          </a:xfrm>
          <a:prstGeom prst="rect">
            <a:avLst/>
          </a:prstGeom>
          <a:noFill/>
          <a:ln/>
        </p:spPr>
        <p:txBody>
          <a:bodyPr wrap="squar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Le diagnostic traditionnel est lent et dépend de l'expertise humaine. Les applications de santé existantes sont souvent généralistes, non spécifiques à la pneumonie, ou inadaptées au contexte camerounais (connexion requise, interface complexe).</a:t>
            </a:r>
            <a:endParaRPr lang="en-US" sz="1750" dirty="0"/>
          </a:p>
        </p:txBody>
      </p:sp>
      <p:sp>
        <p:nvSpPr>
          <p:cNvPr id="5" name="Text 2"/>
          <p:cNvSpPr/>
          <p:nvPr/>
        </p:nvSpPr>
        <p:spPr>
          <a:xfrm>
            <a:off x="9638943" y="5467112"/>
            <a:ext cx="4205168" cy="1088708"/>
          </a:xfrm>
          <a:prstGeom prst="rect">
            <a:avLst/>
          </a:prstGeom>
          <a:noFill/>
          <a:ln/>
        </p:spPr>
        <p:txBody>
          <a:bodyPr wrap="squar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Une lacune existe pour une solution simple, accessible et fiable, spécifique à notre contexte.</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974294"/>
            <a:ext cx="7556421" cy="2126337"/>
          </a:xfrm>
          <a:prstGeom prst="rect">
            <a:avLst/>
          </a:prstGeom>
          <a:noFill/>
          <a:ln/>
        </p:spPr>
        <p:txBody>
          <a:bodyPr wrap="square" lIns="0" tIns="0" rIns="0" bIns="0" rtlCol="0" anchor="t"/>
          <a:lstStyle/>
          <a:p>
            <a:pPr algn="l" indent="0" marL="0">
              <a:lnSpc>
                <a:spcPts val="5550"/>
              </a:lnSpc>
              <a:buNone/>
            </a:pPr>
            <a:r>
              <a:rPr lang="en-US" sz="4450" dirty="0">
                <a:solidFill>
                  <a:srgbClr val="1B1B27"/>
                </a:solidFill>
                <a:latin typeface="Alexandria" pitchFamily="34" charset="0"/>
                <a:ea typeface="Alexandria" pitchFamily="34" charset="-122"/>
                <a:cs typeface="Alexandria" pitchFamily="34" charset="-120"/>
              </a:rPr>
              <a:t>\[Nom de l'App\] : Votre Assistant Diagnostic Intelligent</a:t>
            </a:r>
            <a:endParaRPr lang="en-US" sz="4450" dirty="0"/>
          </a:p>
        </p:txBody>
      </p:sp>
      <p:sp>
        <p:nvSpPr>
          <p:cNvPr id="4" name="Text 1"/>
          <p:cNvSpPr/>
          <p:nvPr/>
        </p:nvSpPr>
        <p:spPr>
          <a:xfrm>
            <a:off x="6280190" y="4440793"/>
            <a:ext cx="7556421" cy="1814513"/>
          </a:xfrm>
          <a:prstGeom prst="rect">
            <a:avLst/>
          </a:prstGeom>
          <a:noFill/>
          <a:ln/>
        </p:spPr>
        <p:txBody>
          <a:bodyPr wrap="squar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Notre application (PWA) utilise l'IA pour analyser des radiographies pulmonaires, aidant les professionnels de santé à diagnostiquer la pneumonie plus rapidement et précisément. Elle réduit les erreurs, désengorge les services spécialisés et offre un outil d'aide à la décision fiable.</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667703"/>
            <a:ext cx="12463343" cy="708779"/>
          </a:xfrm>
          <a:prstGeom prst="rect">
            <a:avLst/>
          </a:prstGeom>
          <a:noFill/>
          <a:ln/>
        </p:spPr>
        <p:txBody>
          <a:bodyPr wrap="none" lIns="0" tIns="0" rIns="0" bIns="0" rtlCol="0" anchor="t"/>
          <a:lstStyle/>
          <a:p>
            <a:pPr algn="l" indent="0" marL="0">
              <a:lnSpc>
                <a:spcPts val="5550"/>
              </a:lnSpc>
              <a:buNone/>
            </a:pPr>
            <a:r>
              <a:rPr lang="en-US" sz="4450" dirty="0">
                <a:solidFill>
                  <a:srgbClr val="1B1B27"/>
                </a:solidFill>
                <a:latin typeface="Alexandria" pitchFamily="34" charset="0"/>
                <a:ea typeface="Alexandria" pitchFamily="34" charset="-122"/>
                <a:cs typeface="Alexandria" pitchFamily="34" charset="-120"/>
              </a:rPr>
              <a:t>En Quoi \[Nom de l'App\] Change la Donne ?</a:t>
            </a:r>
            <a:endParaRPr lang="en-US" sz="4450" dirty="0"/>
          </a:p>
        </p:txBody>
      </p:sp>
      <p:sp>
        <p:nvSpPr>
          <p:cNvPr id="3" name="Shape 1"/>
          <p:cNvSpPr/>
          <p:nvPr/>
        </p:nvSpPr>
        <p:spPr>
          <a:xfrm>
            <a:off x="793790" y="1830110"/>
            <a:ext cx="13042821" cy="5731669"/>
          </a:xfrm>
          <a:prstGeom prst="roundRect">
            <a:avLst>
              <a:gd name="adj" fmla="val 1662"/>
            </a:avLst>
          </a:prstGeom>
          <a:noFill/>
          <a:ln w="7620">
            <a:solidFill>
              <a:srgbClr val="000000">
                <a:alpha val="8000"/>
              </a:srgbClr>
            </a:solidFill>
            <a:prstDash val="solid"/>
          </a:ln>
        </p:spPr>
      </p:sp>
      <p:sp>
        <p:nvSpPr>
          <p:cNvPr id="4" name="Shape 2"/>
          <p:cNvSpPr/>
          <p:nvPr/>
        </p:nvSpPr>
        <p:spPr>
          <a:xfrm>
            <a:off x="801410" y="1837730"/>
            <a:ext cx="13027581" cy="650319"/>
          </a:xfrm>
          <a:prstGeom prst="rect">
            <a:avLst/>
          </a:prstGeom>
          <a:solidFill>
            <a:srgbClr val="FFFFFF">
              <a:alpha val="4000"/>
            </a:srgbClr>
          </a:solidFill>
          <a:ln/>
        </p:spPr>
      </p:sp>
      <p:sp>
        <p:nvSpPr>
          <p:cNvPr id="5" name="Text 3"/>
          <p:cNvSpPr/>
          <p:nvPr/>
        </p:nvSpPr>
        <p:spPr>
          <a:xfrm>
            <a:off x="1028343" y="1981438"/>
            <a:ext cx="2148007" cy="362903"/>
          </a:xfrm>
          <a:prstGeom prst="rect">
            <a:avLst/>
          </a:prstGeom>
          <a:noFill/>
          <a:ln/>
        </p:spPr>
        <p:txBody>
          <a:bodyPr wrap="non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Caractéristique</a:t>
            </a:r>
            <a:endParaRPr lang="en-US" sz="1750" dirty="0"/>
          </a:p>
        </p:txBody>
      </p:sp>
      <p:sp>
        <p:nvSpPr>
          <p:cNvPr id="6" name="Text 4"/>
          <p:cNvSpPr/>
          <p:nvPr/>
        </p:nvSpPr>
        <p:spPr>
          <a:xfrm>
            <a:off x="3637598" y="1981438"/>
            <a:ext cx="4749760" cy="362903"/>
          </a:xfrm>
          <a:prstGeom prst="rect">
            <a:avLst/>
          </a:prstGeom>
          <a:noFill/>
          <a:ln/>
        </p:spPr>
        <p:txBody>
          <a:bodyPr wrap="non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Concurrents / Existant</a:t>
            </a:r>
            <a:endParaRPr lang="en-US" sz="1750" dirty="0"/>
          </a:p>
        </p:txBody>
      </p:sp>
      <p:sp>
        <p:nvSpPr>
          <p:cNvPr id="7" name="Text 5"/>
          <p:cNvSpPr/>
          <p:nvPr/>
        </p:nvSpPr>
        <p:spPr>
          <a:xfrm>
            <a:off x="8848606" y="1981438"/>
            <a:ext cx="4753570" cy="362903"/>
          </a:xfrm>
          <a:prstGeom prst="rect">
            <a:avLst/>
          </a:prstGeom>
          <a:noFill/>
          <a:ln/>
        </p:spPr>
        <p:txBody>
          <a:bodyPr wrap="non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Notre Valeur Ajoutée (Innovation)</a:t>
            </a:r>
            <a:endParaRPr lang="en-US" sz="1750" dirty="0"/>
          </a:p>
        </p:txBody>
      </p:sp>
      <p:sp>
        <p:nvSpPr>
          <p:cNvPr id="8" name="Shape 6"/>
          <p:cNvSpPr/>
          <p:nvPr/>
        </p:nvSpPr>
        <p:spPr>
          <a:xfrm>
            <a:off x="801410" y="2488049"/>
            <a:ext cx="13027581" cy="1013222"/>
          </a:xfrm>
          <a:prstGeom prst="rect">
            <a:avLst/>
          </a:prstGeom>
          <a:solidFill>
            <a:srgbClr val="000000">
              <a:alpha val="4000"/>
            </a:srgbClr>
          </a:solidFill>
          <a:ln/>
        </p:spPr>
      </p:sp>
      <p:sp>
        <p:nvSpPr>
          <p:cNvPr id="9" name="Text 7"/>
          <p:cNvSpPr/>
          <p:nvPr/>
        </p:nvSpPr>
        <p:spPr>
          <a:xfrm>
            <a:off x="1028343" y="2631758"/>
            <a:ext cx="2148007" cy="362903"/>
          </a:xfrm>
          <a:prstGeom prst="rect">
            <a:avLst/>
          </a:prstGeom>
          <a:noFill/>
          <a:ln/>
        </p:spPr>
        <p:txBody>
          <a:bodyPr wrap="non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Cible</a:t>
            </a:r>
            <a:endParaRPr lang="en-US" sz="1750" dirty="0"/>
          </a:p>
        </p:txBody>
      </p:sp>
      <p:sp>
        <p:nvSpPr>
          <p:cNvPr id="10" name="Text 8"/>
          <p:cNvSpPr/>
          <p:nvPr/>
        </p:nvSpPr>
        <p:spPr>
          <a:xfrm>
            <a:off x="3637598" y="2631758"/>
            <a:ext cx="4749760" cy="362903"/>
          </a:xfrm>
          <a:prstGeom prst="rect">
            <a:avLst/>
          </a:prstGeom>
          <a:noFill/>
          <a:ln/>
        </p:spPr>
        <p:txBody>
          <a:bodyPr wrap="non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Grand public ou patients</a:t>
            </a:r>
            <a:endParaRPr lang="en-US" sz="1750" dirty="0"/>
          </a:p>
        </p:txBody>
      </p:sp>
      <p:sp>
        <p:nvSpPr>
          <p:cNvPr id="11" name="Text 9"/>
          <p:cNvSpPr/>
          <p:nvPr/>
        </p:nvSpPr>
        <p:spPr>
          <a:xfrm>
            <a:off x="8848606" y="2631758"/>
            <a:ext cx="4753570" cy="725805"/>
          </a:xfrm>
          <a:prstGeom prst="rect">
            <a:avLst/>
          </a:prstGeom>
          <a:noFill/>
          <a:ln/>
        </p:spPr>
        <p:txBody>
          <a:bodyPr wrap="squar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Professionnels de santé (pneumologues, généralistes)</a:t>
            </a:r>
            <a:endParaRPr lang="en-US" sz="1750" dirty="0"/>
          </a:p>
        </p:txBody>
      </p:sp>
      <p:sp>
        <p:nvSpPr>
          <p:cNvPr id="12" name="Shape 10"/>
          <p:cNvSpPr/>
          <p:nvPr/>
        </p:nvSpPr>
        <p:spPr>
          <a:xfrm>
            <a:off x="801410" y="3501271"/>
            <a:ext cx="13027581" cy="1013222"/>
          </a:xfrm>
          <a:prstGeom prst="rect">
            <a:avLst/>
          </a:prstGeom>
          <a:solidFill>
            <a:srgbClr val="FFFFFF">
              <a:alpha val="4000"/>
            </a:srgbClr>
          </a:solidFill>
          <a:ln/>
        </p:spPr>
      </p:sp>
      <p:sp>
        <p:nvSpPr>
          <p:cNvPr id="13" name="Text 11"/>
          <p:cNvSpPr/>
          <p:nvPr/>
        </p:nvSpPr>
        <p:spPr>
          <a:xfrm>
            <a:off x="1028343" y="3644979"/>
            <a:ext cx="2148007" cy="362903"/>
          </a:xfrm>
          <a:prstGeom prst="rect">
            <a:avLst/>
          </a:prstGeom>
          <a:noFill/>
          <a:ln/>
        </p:spPr>
        <p:txBody>
          <a:bodyPr wrap="non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Technologie</a:t>
            </a:r>
            <a:endParaRPr lang="en-US" sz="1750" dirty="0"/>
          </a:p>
        </p:txBody>
      </p:sp>
      <p:sp>
        <p:nvSpPr>
          <p:cNvPr id="14" name="Text 12"/>
          <p:cNvSpPr/>
          <p:nvPr/>
        </p:nvSpPr>
        <p:spPr>
          <a:xfrm>
            <a:off x="3637598" y="3644979"/>
            <a:ext cx="4749760" cy="362903"/>
          </a:xfrm>
          <a:prstGeom prst="rect">
            <a:avLst/>
          </a:prstGeom>
          <a:noFill/>
          <a:ln/>
        </p:spPr>
        <p:txBody>
          <a:bodyPr wrap="non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Applications classiques</a:t>
            </a:r>
            <a:endParaRPr lang="en-US" sz="1750" dirty="0"/>
          </a:p>
        </p:txBody>
      </p:sp>
      <p:sp>
        <p:nvSpPr>
          <p:cNvPr id="15" name="Text 13"/>
          <p:cNvSpPr/>
          <p:nvPr/>
        </p:nvSpPr>
        <p:spPr>
          <a:xfrm>
            <a:off x="8848606" y="3644979"/>
            <a:ext cx="4753570" cy="725805"/>
          </a:xfrm>
          <a:prstGeom prst="rect">
            <a:avLst/>
          </a:prstGeom>
          <a:noFill/>
          <a:ln/>
        </p:spPr>
        <p:txBody>
          <a:bodyPr wrap="squar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IA spécialisée entraînée sur données pneumonie</a:t>
            </a:r>
            <a:endParaRPr lang="en-US" sz="1750" dirty="0"/>
          </a:p>
        </p:txBody>
      </p:sp>
      <p:sp>
        <p:nvSpPr>
          <p:cNvPr id="16" name="Shape 14"/>
          <p:cNvSpPr/>
          <p:nvPr/>
        </p:nvSpPr>
        <p:spPr>
          <a:xfrm>
            <a:off x="801410" y="4514493"/>
            <a:ext cx="13027581" cy="1013222"/>
          </a:xfrm>
          <a:prstGeom prst="rect">
            <a:avLst/>
          </a:prstGeom>
          <a:solidFill>
            <a:srgbClr val="000000">
              <a:alpha val="4000"/>
            </a:srgbClr>
          </a:solidFill>
          <a:ln/>
        </p:spPr>
      </p:sp>
      <p:sp>
        <p:nvSpPr>
          <p:cNvPr id="17" name="Text 15"/>
          <p:cNvSpPr/>
          <p:nvPr/>
        </p:nvSpPr>
        <p:spPr>
          <a:xfrm>
            <a:off x="1028343" y="4658201"/>
            <a:ext cx="2148007" cy="362903"/>
          </a:xfrm>
          <a:prstGeom prst="rect">
            <a:avLst/>
          </a:prstGeom>
          <a:noFill/>
          <a:ln/>
        </p:spPr>
        <p:txBody>
          <a:bodyPr wrap="non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Accessibilité</a:t>
            </a:r>
            <a:endParaRPr lang="en-US" sz="1750" dirty="0"/>
          </a:p>
        </p:txBody>
      </p:sp>
      <p:sp>
        <p:nvSpPr>
          <p:cNvPr id="18" name="Text 16"/>
          <p:cNvSpPr/>
          <p:nvPr/>
        </p:nvSpPr>
        <p:spPr>
          <a:xfrm>
            <a:off x="3637598" y="4658201"/>
            <a:ext cx="4749760" cy="362903"/>
          </a:xfrm>
          <a:prstGeom prst="rect">
            <a:avLst/>
          </a:prstGeom>
          <a:noFill/>
          <a:ln/>
        </p:spPr>
        <p:txBody>
          <a:bodyPr wrap="non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Applications natives (lourdes)</a:t>
            </a:r>
            <a:endParaRPr lang="en-US" sz="1750" dirty="0"/>
          </a:p>
        </p:txBody>
      </p:sp>
      <p:sp>
        <p:nvSpPr>
          <p:cNvPr id="19" name="Text 17"/>
          <p:cNvSpPr/>
          <p:nvPr/>
        </p:nvSpPr>
        <p:spPr>
          <a:xfrm>
            <a:off x="8848606" y="4658201"/>
            <a:ext cx="4753570" cy="725805"/>
          </a:xfrm>
          <a:prstGeom prst="rect">
            <a:avLst/>
          </a:prstGeom>
          <a:noFill/>
          <a:ln/>
        </p:spPr>
        <p:txBody>
          <a:bodyPr wrap="squar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PWA : légère, accessible même avec connexion faible, hors-ligne</a:t>
            </a:r>
            <a:endParaRPr lang="en-US" sz="1750" dirty="0"/>
          </a:p>
        </p:txBody>
      </p:sp>
      <p:sp>
        <p:nvSpPr>
          <p:cNvPr id="20" name="Shape 18"/>
          <p:cNvSpPr/>
          <p:nvPr/>
        </p:nvSpPr>
        <p:spPr>
          <a:xfrm>
            <a:off x="801410" y="5527715"/>
            <a:ext cx="13027581" cy="1013222"/>
          </a:xfrm>
          <a:prstGeom prst="rect">
            <a:avLst/>
          </a:prstGeom>
          <a:solidFill>
            <a:srgbClr val="FFFFFF">
              <a:alpha val="4000"/>
            </a:srgbClr>
          </a:solidFill>
          <a:ln/>
        </p:spPr>
      </p:sp>
      <p:sp>
        <p:nvSpPr>
          <p:cNvPr id="21" name="Text 19"/>
          <p:cNvSpPr/>
          <p:nvPr/>
        </p:nvSpPr>
        <p:spPr>
          <a:xfrm>
            <a:off x="1028343" y="5671423"/>
            <a:ext cx="2148007" cy="362903"/>
          </a:xfrm>
          <a:prstGeom prst="rect">
            <a:avLst/>
          </a:prstGeom>
          <a:noFill/>
          <a:ln/>
        </p:spPr>
        <p:txBody>
          <a:bodyPr wrap="non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Langue</a:t>
            </a:r>
            <a:endParaRPr lang="en-US" sz="1750" dirty="0"/>
          </a:p>
        </p:txBody>
      </p:sp>
      <p:sp>
        <p:nvSpPr>
          <p:cNvPr id="22" name="Text 20"/>
          <p:cNvSpPr/>
          <p:nvPr/>
        </p:nvSpPr>
        <p:spPr>
          <a:xfrm>
            <a:off x="3637598" y="5671423"/>
            <a:ext cx="4749760" cy="362903"/>
          </a:xfrm>
          <a:prstGeom prst="rect">
            <a:avLst/>
          </a:prstGeom>
          <a:noFill/>
          <a:ln/>
        </p:spPr>
        <p:txBody>
          <a:bodyPr wrap="non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Anglais uniquement</a:t>
            </a:r>
            <a:endParaRPr lang="en-US" sz="1750" dirty="0"/>
          </a:p>
        </p:txBody>
      </p:sp>
      <p:sp>
        <p:nvSpPr>
          <p:cNvPr id="23" name="Text 21"/>
          <p:cNvSpPr/>
          <p:nvPr/>
        </p:nvSpPr>
        <p:spPr>
          <a:xfrm>
            <a:off x="8848606" y="5671423"/>
            <a:ext cx="4753570" cy="725805"/>
          </a:xfrm>
          <a:prstGeom prst="rect">
            <a:avLst/>
          </a:prstGeom>
          <a:noFill/>
          <a:ln/>
        </p:spPr>
        <p:txBody>
          <a:bodyPr wrap="squar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Bilingue (Français/Anglais), interface adaptée</a:t>
            </a:r>
            <a:endParaRPr lang="en-US" sz="1750" dirty="0"/>
          </a:p>
        </p:txBody>
      </p:sp>
      <p:sp>
        <p:nvSpPr>
          <p:cNvPr id="24" name="Shape 22"/>
          <p:cNvSpPr/>
          <p:nvPr/>
        </p:nvSpPr>
        <p:spPr>
          <a:xfrm>
            <a:off x="801410" y="6540937"/>
            <a:ext cx="13027581" cy="1013222"/>
          </a:xfrm>
          <a:prstGeom prst="rect">
            <a:avLst/>
          </a:prstGeom>
          <a:solidFill>
            <a:srgbClr val="000000">
              <a:alpha val="4000"/>
            </a:srgbClr>
          </a:solidFill>
          <a:ln/>
        </p:spPr>
      </p:sp>
      <p:sp>
        <p:nvSpPr>
          <p:cNvPr id="25" name="Text 23"/>
          <p:cNvSpPr/>
          <p:nvPr/>
        </p:nvSpPr>
        <p:spPr>
          <a:xfrm>
            <a:off x="1028343" y="6684645"/>
            <a:ext cx="2148007" cy="362903"/>
          </a:xfrm>
          <a:prstGeom prst="rect">
            <a:avLst/>
          </a:prstGeom>
          <a:noFill/>
          <a:ln/>
        </p:spPr>
        <p:txBody>
          <a:bodyPr wrap="non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Données</a:t>
            </a:r>
            <a:endParaRPr lang="en-US" sz="1750" dirty="0"/>
          </a:p>
        </p:txBody>
      </p:sp>
      <p:sp>
        <p:nvSpPr>
          <p:cNvPr id="26" name="Text 24"/>
          <p:cNvSpPr/>
          <p:nvPr/>
        </p:nvSpPr>
        <p:spPr>
          <a:xfrm>
            <a:off x="3637598" y="6684645"/>
            <a:ext cx="4749760" cy="362903"/>
          </a:xfrm>
          <a:prstGeom prst="rect">
            <a:avLst/>
          </a:prstGeom>
          <a:noFill/>
          <a:ln/>
        </p:spPr>
        <p:txBody>
          <a:bodyPr wrap="non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Stockage externe incertain</a:t>
            </a:r>
            <a:endParaRPr lang="en-US" sz="1750" dirty="0"/>
          </a:p>
        </p:txBody>
      </p:sp>
      <p:sp>
        <p:nvSpPr>
          <p:cNvPr id="27" name="Text 25"/>
          <p:cNvSpPr/>
          <p:nvPr/>
        </p:nvSpPr>
        <p:spPr>
          <a:xfrm>
            <a:off x="8848606" y="6684645"/>
            <a:ext cx="4753570" cy="725805"/>
          </a:xfrm>
          <a:prstGeom prst="rect">
            <a:avLst/>
          </a:prstGeom>
          <a:noFill/>
          <a:ln/>
        </p:spPr>
        <p:txBody>
          <a:bodyPr wrap="squar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Sécurisation maximale, conformité réglementaire</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184582" y="680442"/>
            <a:ext cx="7747635" cy="1870234"/>
          </a:xfrm>
          <a:prstGeom prst="rect">
            <a:avLst/>
          </a:prstGeom>
          <a:noFill/>
          <a:ln/>
        </p:spPr>
        <p:txBody>
          <a:bodyPr wrap="square" lIns="0" tIns="0" rIns="0" bIns="0" rtlCol="0" anchor="t"/>
          <a:lstStyle/>
          <a:p>
            <a:pPr algn="l" indent="0" marL="0">
              <a:lnSpc>
                <a:spcPts val="4900"/>
              </a:lnSpc>
              <a:buNone/>
            </a:pPr>
            <a:r>
              <a:rPr lang="en-US" sz="3900" dirty="0">
                <a:solidFill>
                  <a:srgbClr val="1B1B27"/>
                </a:solidFill>
                <a:latin typeface="Alexandria" pitchFamily="34" charset="0"/>
                <a:ea typeface="Alexandria" pitchFamily="34" charset="-122"/>
                <a:cs typeface="Alexandria" pitchFamily="34" charset="-120"/>
              </a:rPr>
              <a:t>Pourquoi les Acteurs de Santé Vont Adopter \[Nom de l'App\] ?</a:t>
            </a:r>
            <a:endParaRPr lang="en-US" sz="3900" dirty="0"/>
          </a:p>
        </p:txBody>
      </p:sp>
      <p:sp>
        <p:nvSpPr>
          <p:cNvPr id="4" name="Shape 1"/>
          <p:cNvSpPr/>
          <p:nvPr/>
        </p:nvSpPr>
        <p:spPr>
          <a:xfrm>
            <a:off x="6184582" y="2813804"/>
            <a:ext cx="7747635" cy="1461492"/>
          </a:xfrm>
          <a:prstGeom prst="roundRect">
            <a:avLst>
              <a:gd name="adj" fmla="val 7508"/>
            </a:avLst>
          </a:prstGeom>
          <a:solidFill>
            <a:srgbClr val="F9F9FF"/>
          </a:solidFill>
          <a:ln w="22860">
            <a:solidFill>
              <a:srgbClr val="B8C3DF"/>
            </a:solidFill>
            <a:prstDash val="solid"/>
          </a:ln>
        </p:spPr>
      </p:sp>
      <p:sp>
        <p:nvSpPr>
          <p:cNvPr id="5" name="Shape 2"/>
          <p:cNvSpPr/>
          <p:nvPr/>
        </p:nvSpPr>
        <p:spPr>
          <a:xfrm>
            <a:off x="6161723" y="2813804"/>
            <a:ext cx="91440" cy="1461492"/>
          </a:xfrm>
          <a:prstGeom prst="roundRect">
            <a:avLst>
              <a:gd name="adj" fmla="val 91629"/>
            </a:avLst>
          </a:prstGeom>
          <a:solidFill>
            <a:srgbClr val="1B54DA"/>
          </a:solidFill>
          <a:ln/>
        </p:spPr>
      </p:sp>
      <p:sp>
        <p:nvSpPr>
          <p:cNvPr id="6" name="Text 3"/>
          <p:cNvSpPr/>
          <p:nvPr/>
        </p:nvSpPr>
        <p:spPr>
          <a:xfrm>
            <a:off x="6475452" y="3036094"/>
            <a:ext cx="2493526" cy="311587"/>
          </a:xfrm>
          <a:prstGeom prst="rect">
            <a:avLst/>
          </a:prstGeom>
          <a:noFill/>
          <a:ln/>
        </p:spPr>
        <p:txBody>
          <a:bodyPr wrap="none" lIns="0" tIns="0" rIns="0" bIns="0" rtlCol="0" anchor="t"/>
          <a:lstStyle/>
          <a:p>
            <a:pPr algn="l" indent="0" marL="0">
              <a:lnSpc>
                <a:spcPts val="2450"/>
              </a:lnSpc>
              <a:buNone/>
            </a:pPr>
            <a:r>
              <a:rPr lang="en-US" sz="1950" dirty="0">
                <a:solidFill>
                  <a:srgbClr val="404155"/>
                </a:solidFill>
                <a:latin typeface="Alexandria" pitchFamily="34" charset="0"/>
                <a:ea typeface="Alexandria" pitchFamily="34" charset="-122"/>
                <a:cs typeface="Alexandria" pitchFamily="34" charset="-120"/>
              </a:rPr>
              <a:t>Pour les Hôpitaux</a:t>
            </a:r>
            <a:endParaRPr lang="en-US" sz="1950" dirty="0"/>
          </a:p>
        </p:txBody>
      </p:sp>
      <p:sp>
        <p:nvSpPr>
          <p:cNvPr id="7" name="Text 4"/>
          <p:cNvSpPr/>
          <p:nvPr/>
        </p:nvSpPr>
        <p:spPr>
          <a:xfrm>
            <a:off x="6475452" y="3452932"/>
            <a:ext cx="7234476" cy="600075"/>
          </a:xfrm>
          <a:prstGeom prst="rect">
            <a:avLst/>
          </a:prstGeom>
          <a:noFill/>
          <a:ln/>
        </p:spPr>
        <p:txBody>
          <a:bodyPr wrap="square" lIns="0" tIns="0" rIns="0" bIns="0" rtlCol="0" anchor="t"/>
          <a:lstStyle/>
          <a:p>
            <a:pPr algn="l" indent="0" marL="0">
              <a:lnSpc>
                <a:spcPts val="2350"/>
              </a:lnSpc>
              <a:buNone/>
            </a:pPr>
            <a:r>
              <a:rPr lang="en-US" sz="1550" dirty="0">
                <a:solidFill>
                  <a:srgbClr val="404155"/>
                </a:solidFill>
                <a:latin typeface="Nobile" pitchFamily="34" charset="0"/>
                <a:ea typeface="Nobile" pitchFamily="34" charset="-122"/>
                <a:cs typeface="Nobile" pitchFamily="34" charset="-120"/>
              </a:rPr>
              <a:t>Amélioration de la qualité et rapidité des diagnostics, réduction des coûts, outil de formation continue.</a:t>
            </a:r>
            <a:endParaRPr lang="en-US" sz="1550" dirty="0"/>
          </a:p>
        </p:txBody>
      </p:sp>
      <p:sp>
        <p:nvSpPr>
          <p:cNvPr id="8" name="Shape 5"/>
          <p:cNvSpPr/>
          <p:nvPr/>
        </p:nvSpPr>
        <p:spPr>
          <a:xfrm>
            <a:off x="6184582" y="4450675"/>
            <a:ext cx="7747635" cy="1461492"/>
          </a:xfrm>
          <a:prstGeom prst="roundRect">
            <a:avLst>
              <a:gd name="adj" fmla="val 7508"/>
            </a:avLst>
          </a:prstGeom>
          <a:solidFill>
            <a:srgbClr val="F9F9FF"/>
          </a:solidFill>
          <a:ln w="22860">
            <a:solidFill>
              <a:srgbClr val="B8C3DF"/>
            </a:solidFill>
            <a:prstDash val="solid"/>
          </a:ln>
        </p:spPr>
      </p:sp>
      <p:sp>
        <p:nvSpPr>
          <p:cNvPr id="9" name="Shape 6"/>
          <p:cNvSpPr/>
          <p:nvPr/>
        </p:nvSpPr>
        <p:spPr>
          <a:xfrm>
            <a:off x="6161723" y="4450675"/>
            <a:ext cx="91440" cy="1461492"/>
          </a:xfrm>
          <a:prstGeom prst="roundRect">
            <a:avLst>
              <a:gd name="adj" fmla="val 91629"/>
            </a:avLst>
          </a:prstGeom>
          <a:solidFill>
            <a:srgbClr val="1B54DA"/>
          </a:solidFill>
          <a:ln/>
        </p:spPr>
      </p:sp>
      <p:sp>
        <p:nvSpPr>
          <p:cNvPr id="10" name="Text 7"/>
          <p:cNvSpPr/>
          <p:nvPr/>
        </p:nvSpPr>
        <p:spPr>
          <a:xfrm>
            <a:off x="6475452" y="4672965"/>
            <a:ext cx="2493526" cy="311587"/>
          </a:xfrm>
          <a:prstGeom prst="rect">
            <a:avLst/>
          </a:prstGeom>
          <a:noFill/>
          <a:ln/>
        </p:spPr>
        <p:txBody>
          <a:bodyPr wrap="none" lIns="0" tIns="0" rIns="0" bIns="0" rtlCol="0" anchor="t"/>
          <a:lstStyle/>
          <a:p>
            <a:pPr algn="l" indent="0" marL="0">
              <a:lnSpc>
                <a:spcPts val="2450"/>
              </a:lnSpc>
              <a:buNone/>
            </a:pPr>
            <a:r>
              <a:rPr lang="en-US" sz="1950" dirty="0">
                <a:solidFill>
                  <a:srgbClr val="404155"/>
                </a:solidFill>
                <a:latin typeface="Alexandria" pitchFamily="34" charset="0"/>
                <a:ea typeface="Alexandria" pitchFamily="34" charset="-122"/>
                <a:cs typeface="Alexandria" pitchFamily="34" charset="-120"/>
              </a:rPr>
              <a:t>Pour les ONG</a:t>
            </a:r>
            <a:endParaRPr lang="en-US" sz="1950" dirty="0"/>
          </a:p>
        </p:txBody>
      </p:sp>
      <p:sp>
        <p:nvSpPr>
          <p:cNvPr id="11" name="Text 8"/>
          <p:cNvSpPr/>
          <p:nvPr/>
        </p:nvSpPr>
        <p:spPr>
          <a:xfrm>
            <a:off x="6475452" y="5089803"/>
            <a:ext cx="7234476" cy="600075"/>
          </a:xfrm>
          <a:prstGeom prst="rect">
            <a:avLst/>
          </a:prstGeom>
          <a:noFill/>
          <a:ln/>
        </p:spPr>
        <p:txBody>
          <a:bodyPr wrap="square" lIns="0" tIns="0" rIns="0" bIns="0" rtlCol="0" anchor="t"/>
          <a:lstStyle/>
          <a:p>
            <a:pPr algn="l" indent="0" marL="0">
              <a:lnSpc>
                <a:spcPts val="2350"/>
              </a:lnSpc>
              <a:buNone/>
            </a:pPr>
            <a:r>
              <a:rPr lang="en-US" sz="1550" dirty="0">
                <a:solidFill>
                  <a:srgbClr val="404155"/>
                </a:solidFill>
                <a:latin typeface="Nobile" pitchFamily="34" charset="0"/>
                <a:ea typeface="Nobile" pitchFamily="34" charset="-122"/>
                <a:cs typeface="Nobile" pitchFamily="34" charset="-120"/>
              </a:rPr>
              <a:t>Outil déployable rapidement lors d'épidémies ou en missions humanitaires en zones reculées.</a:t>
            </a:r>
            <a:endParaRPr lang="en-US" sz="1550" dirty="0"/>
          </a:p>
        </p:txBody>
      </p:sp>
      <p:sp>
        <p:nvSpPr>
          <p:cNvPr id="12" name="Shape 9"/>
          <p:cNvSpPr/>
          <p:nvPr/>
        </p:nvSpPr>
        <p:spPr>
          <a:xfrm>
            <a:off x="6184582" y="6087547"/>
            <a:ext cx="7747635" cy="1461492"/>
          </a:xfrm>
          <a:prstGeom prst="roundRect">
            <a:avLst>
              <a:gd name="adj" fmla="val 7508"/>
            </a:avLst>
          </a:prstGeom>
          <a:solidFill>
            <a:srgbClr val="F9F9FF"/>
          </a:solidFill>
          <a:ln w="22860">
            <a:solidFill>
              <a:srgbClr val="B8C3DF"/>
            </a:solidFill>
            <a:prstDash val="solid"/>
          </a:ln>
        </p:spPr>
      </p:sp>
      <p:sp>
        <p:nvSpPr>
          <p:cNvPr id="13" name="Shape 10"/>
          <p:cNvSpPr/>
          <p:nvPr/>
        </p:nvSpPr>
        <p:spPr>
          <a:xfrm>
            <a:off x="6161723" y="6087547"/>
            <a:ext cx="91440" cy="1461492"/>
          </a:xfrm>
          <a:prstGeom prst="roundRect">
            <a:avLst>
              <a:gd name="adj" fmla="val 91629"/>
            </a:avLst>
          </a:prstGeom>
          <a:solidFill>
            <a:srgbClr val="1B54DA"/>
          </a:solidFill>
          <a:ln/>
        </p:spPr>
      </p:sp>
      <p:sp>
        <p:nvSpPr>
          <p:cNvPr id="14" name="Text 11"/>
          <p:cNvSpPr/>
          <p:nvPr/>
        </p:nvSpPr>
        <p:spPr>
          <a:xfrm>
            <a:off x="6475452" y="6309836"/>
            <a:ext cx="3540562" cy="311587"/>
          </a:xfrm>
          <a:prstGeom prst="rect">
            <a:avLst/>
          </a:prstGeom>
          <a:noFill/>
          <a:ln/>
        </p:spPr>
        <p:txBody>
          <a:bodyPr wrap="none" lIns="0" tIns="0" rIns="0" bIns="0" rtlCol="0" anchor="t"/>
          <a:lstStyle/>
          <a:p>
            <a:pPr algn="l" indent="0" marL="0">
              <a:lnSpc>
                <a:spcPts val="2450"/>
              </a:lnSpc>
              <a:buNone/>
            </a:pPr>
            <a:r>
              <a:rPr lang="en-US" sz="1950" dirty="0">
                <a:solidFill>
                  <a:srgbClr val="404155"/>
                </a:solidFill>
                <a:latin typeface="Alexandria" pitchFamily="34" charset="0"/>
                <a:ea typeface="Alexandria" pitchFamily="34" charset="-122"/>
                <a:cs typeface="Alexandria" pitchFamily="34" charset="-120"/>
              </a:rPr>
              <a:t>Pour le Ministère de la Santé</a:t>
            </a:r>
            <a:endParaRPr lang="en-US" sz="1950" dirty="0"/>
          </a:p>
        </p:txBody>
      </p:sp>
      <p:sp>
        <p:nvSpPr>
          <p:cNvPr id="15" name="Text 12"/>
          <p:cNvSpPr/>
          <p:nvPr/>
        </p:nvSpPr>
        <p:spPr>
          <a:xfrm>
            <a:off x="6475452" y="6726674"/>
            <a:ext cx="7234476" cy="600075"/>
          </a:xfrm>
          <a:prstGeom prst="rect">
            <a:avLst/>
          </a:prstGeom>
          <a:noFill/>
          <a:ln/>
        </p:spPr>
        <p:txBody>
          <a:bodyPr wrap="square" lIns="0" tIns="0" rIns="0" bIns="0" rtlCol="0" anchor="t"/>
          <a:lstStyle/>
          <a:p>
            <a:pPr algn="l" indent="0" marL="0">
              <a:lnSpc>
                <a:spcPts val="2350"/>
              </a:lnSpc>
              <a:buNone/>
            </a:pPr>
            <a:r>
              <a:rPr lang="en-US" sz="1550" dirty="0">
                <a:solidFill>
                  <a:srgbClr val="404155"/>
                </a:solidFill>
                <a:latin typeface="Nobile" pitchFamily="34" charset="0"/>
                <a:ea typeface="Nobile" pitchFamily="34" charset="-122"/>
                <a:cs typeface="Nobile" pitchFamily="34" charset="-120"/>
              </a:rPr>
              <a:t>Collecte de données anonymisées pour une meilleure surveillance épidémiologique.</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86753" y="539591"/>
            <a:ext cx="9824561" cy="613172"/>
          </a:xfrm>
          <a:prstGeom prst="rect">
            <a:avLst/>
          </a:prstGeom>
          <a:noFill/>
          <a:ln/>
        </p:spPr>
        <p:txBody>
          <a:bodyPr wrap="none" lIns="0" tIns="0" rIns="0" bIns="0" rtlCol="0" anchor="t"/>
          <a:lstStyle/>
          <a:p>
            <a:pPr algn="l" indent="0" marL="0">
              <a:lnSpc>
                <a:spcPts val="4800"/>
              </a:lnSpc>
              <a:buNone/>
            </a:pPr>
            <a:r>
              <a:rPr lang="en-US" sz="3850" dirty="0">
                <a:solidFill>
                  <a:srgbClr val="1B1B27"/>
                </a:solidFill>
                <a:latin typeface="Alexandria" pitchFamily="34" charset="0"/>
                <a:ea typeface="Alexandria" pitchFamily="34" charset="-122"/>
                <a:cs typeface="Alexandria" pitchFamily="34" charset="-120"/>
              </a:rPr>
              <a:t>Notre Feuille de Route (Chronogramme)</a:t>
            </a:r>
            <a:endParaRPr lang="en-US" sz="3850" dirty="0"/>
          </a:p>
        </p:txBody>
      </p:sp>
      <p:pic>
        <p:nvPicPr>
          <p:cNvPr id="3" name="Image 0" descr="preencoded.png">    </p:cNvPr>
          <p:cNvPicPr>
            <a:picLocks noChangeAspect="1"/>
          </p:cNvPicPr>
          <p:nvPr/>
        </p:nvPicPr>
        <p:blipFill>
          <a:blip r:embed="rId1"/>
          <a:stretch>
            <a:fillRect/>
          </a:stretch>
        </p:blipFill>
        <p:spPr>
          <a:xfrm>
            <a:off x="686753" y="1492210"/>
            <a:ext cx="13256895" cy="5815132"/>
          </a:xfrm>
          <a:prstGeom prst="rect">
            <a:avLst/>
          </a:prstGeom>
        </p:spPr>
      </p:pic>
      <p:sp>
        <p:nvSpPr>
          <p:cNvPr id="4" name="Text 1"/>
          <p:cNvSpPr/>
          <p:nvPr/>
        </p:nvSpPr>
        <p:spPr>
          <a:xfrm>
            <a:off x="4704359" y="5698353"/>
            <a:ext cx="2003580" cy="717486"/>
          </a:xfrm>
          <a:prstGeom prst="rect">
            <a:avLst/>
          </a:prstGeom>
          <a:noFill/>
          <a:ln/>
        </p:spPr>
        <p:txBody>
          <a:bodyPr wrap="square" lIns="0" tIns="0" rIns="0" bIns="0" rtlCol="0" anchor="t"/>
          <a:lstStyle/>
          <a:p>
            <a:pPr algn="ctr" indent="0" marL="0">
              <a:lnSpc>
                <a:spcPts val="2800"/>
              </a:lnSpc>
              <a:buNone/>
            </a:pPr>
            <a:r>
              <a:rPr lang="en-US" sz="2250" dirty="0">
                <a:solidFill>
                  <a:srgbClr val="1B1B27"/>
                </a:solidFill>
                <a:latin typeface="Alexandria" pitchFamily="34" charset="0"/>
                <a:ea typeface="Alexandria" pitchFamily="34" charset="-122"/>
                <a:cs typeface="Alexandria" pitchFamily="34" charset="-120"/>
              </a:rPr>
              <a:t>Développement IA</a:t>
            </a:r>
            <a:endParaRPr lang="en-US" sz="2250" dirty="0"/>
          </a:p>
        </p:txBody>
      </p:sp>
      <p:sp>
        <p:nvSpPr>
          <p:cNvPr id="5" name="Text 2"/>
          <p:cNvSpPr/>
          <p:nvPr/>
        </p:nvSpPr>
        <p:spPr>
          <a:xfrm>
            <a:off x="4704359" y="6517881"/>
            <a:ext cx="2003580" cy="267463"/>
          </a:xfrm>
          <a:prstGeom prst="rect">
            <a:avLst/>
          </a:prstGeom>
          <a:noFill/>
          <a:ln/>
        </p:spPr>
        <p:txBody>
          <a:bodyPr wrap="none" lIns="0" tIns="0" rIns="0" bIns="0" rtlCol="0" anchor="t"/>
          <a:lstStyle/>
          <a:p>
            <a:pPr algn="ctr" indent="0" marL="0">
              <a:lnSpc>
                <a:spcPts val="2100"/>
              </a:lnSpc>
              <a:buNone/>
            </a:pPr>
            <a:r>
              <a:rPr lang="en-US" sz="1800" dirty="0">
                <a:solidFill>
                  <a:srgbClr val="404155"/>
                </a:solidFill>
                <a:latin typeface="Nobile" pitchFamily="34" charset="0"/>
                <a:ea typeface="Nobile" pitchFamily="34" charset="-122"/>
                <a:cs typeface="Nobile" pitchFamily="34" charset="-120"/>
              </a:rPr>
              <a:t>Mois 2–4</a:t>
            </a:r>
            <a:endParaRPr lang="en-US" sz="1800" dirty="0"/>
          </a:p>
        </p:txBody>
      </p:sp>
      <p:sp>
        <p:nvSpPr>
          <p:cNvPr id="6" name="Text 3"/>
          <p:cNvSpPr/>
          <p:nvPr/>
        </p:nvSpPr>
        <p:spPr>
          <a:xfrm>
            <a:off x="11069258" y="5698353"/>
            <a:ext cx="2003580" cy="717486"/>
          </a:xfrm>
          <a:prstGeom prst="rect">
            <a:avLst/>
          </a:prstGeom>
          <a:noFill/>
          <a:ln/>
        </p:spPr>
        <p:txBody>
          <a:bodyPr wrap="square" lIns="0" tIns="0" rIns="0" bIns="0" rtlCol="0" anchor="t"/>
          <a:lstStyle/>
          <a:p>
            <a:pPr algn="ctr" indent="0" marL="0">
              <a:lnSpc>
                <a:spcPts val="2800"/>
              </a:lnSpc>
              <a:buNone/>
            </a:pPr>
            <a:r>
              <a:rPr lang="en-US" sz="2250" dirty="0">
                <a:solidFill>
                  <a:srgbClr val="1B1B27"/>
                </a:solidFill>
                <a:latin typeface="Alexandria" pitchFamily="34" charset="0"/>
                <a:ea typeface="Alexandria" pitchFamily="34" charset="-122"/>
                <a:cs typeface="Alexandria" pitchFamily="34" charset="-120"/>
              </a:rPr>
              <a:t>Tests &amp; Déploiement</a:t>
            </a:r>
            <a:endParaRPr lang="en-US" sz="2250" dirty="0"/>
          </a:p>
        </p:txBody>
      </p:sp>
      <p:sp>
        <p:nvSpPr>
          <p:cNvPr id="7" name="Text 4"/>
          <p:cNvSpPr/>
          <p:nvPr/>
        </p:nvSpPr>
        <p:spPr>
          <a:xfrm>
            <a:off x="11069258" y="6517881"/>
            <a:ext cx="2003580" cy="267463"/>
          </a:xfrm>
          <a:prstGeom prst="rect">
            <a:avLst/>
          </a:prstGeom>
          <a:noFill/>
          <a:ln/>
        </p:spPr>
        <p:txBody>
          <a:bodyPr wrap="none" lIns="0" tIns="0" rIns="0" bIns="0" rtlCol="0" anchor="t"/>
          <a:lstStyle/>
          <a:p>
            <a:pPr algn="ctr" indent="0" marL="0">
              <a:lnSpc>
                <a:spcPts val="2100"/>
              </a:lnSpc>
              <a:buNone/>
            </a:pPr>
            <a:r>
              <a:rPr lang="en-US" sz="1800" dirty="0">
                <a:solidFill>
                  <a:srgbClr val="404155"/>
                </a:solidFill>
                <a:latin typeface="Nobile" pitchFamily="34" charset="0"/>
                <a:ea typeface="Nobile" pitchFamily="34" charset="-122"/>
                <a:cs typeface="Nobile" pitchFamily="34" charset="-120"/>
              </a:rPr>
              <a:t>Mois 5–6</a:t>
            </a:r>
            <a:endParaRPr lang="en-US" sz="1800" dirty="0"/>
          </a:p>
        </p:txBody>
      </p:sp>
      <p:sp>
        <p:nvSpPr>
          <p:cNvPr id="8" name="Text 5"/>
          <p:cNvSpPr/>
          <p:nvPr/>
        </p:nvSpPr>
        <p:spPr>
          <a:xfrm>
            <a:off x="1592064" y="2014858"/>
            <a:ext cx="2003580" cy="358743"/>
          </a:xfrm>
          <a:prstGeom prst="rect">
            <a:avLst/>
          </a:prstGeom>
          <a:noFill/>
          <a:ln/>
        </p:spPr>
        <p:txBody>
          <a:bodyPr wrap="none" lIns="0" tIns="0" rIns="0" bIns="0" rtlCol="0" anchor="t"/>
          <a:lstStyle/>
          <a:p>
            <a:pPr algn="ctr" indent="0" marL="0">
              <a:lnSpc>
                <a:spcPts val="2800"/>
              </a:lnSpc>
              <a:buNone/>
            </a:pPr>
            <a:r>
              <a:rPr lang="en-US" sz="2250" dirty="0">
                <a:solidFill>
                  <a:srgbClr val="1B1B27"/>
                </a:solidFill>
                <a:latin typeface="Alexandria" pitchFamily="34" charset="0"/>
                <a:ea typeface="Alexandria" pitchFamily="34" charset="-122"/>
                <a:cs typeface="Alexandria" pitchFamily="34" charset="-120"/>
              </a:rPr>
              <a:t>Conception</a:t>
            </a:r>
            <a:endParaRPr lang="en-US" sz="2250" dirty="0"/>
          </a:p>
        </p:txBody>
      </p:sp>
      <p:sp>
        <p:nvSpPr>
          <p:cNvPr id="9" name="Text 6"/>
          <p:cNvSpPr/>
          <p:nvPr/>
        </p:nvSpPr>
        <p:spPr>
          <a:xfrm>
            <a:off x="1592064" y="2475644"/>
            <a:ext cx="2003580" cy="267463"/>
          </a:xfrm>
          <a:prstGeom prst="rect">
            <a:avLst/>
          </a:prstGeom>
          <a:noFill/>
          <a:ln/>
        </p:spPr>
        <p:txBody>
          <a:bodyPr wrap="none" lIns="0" tIns="0" rIns="0" bIns="0" rtlCol="0" anchor="t"/>
          <a:lstStyle/>
          <a:p>
            <a:pPr algn="ctr" indent="0" marL="0">
              <a:lnSpc>
                <a:spcPts val="2100"/>
              </a:lnSpc>
              <a:buNone/>
            </a:pPr>
            <a:r>
              <a:rPr lang="en-US" sz="1800" dirty="0">
                <a:solidFill>
                  <a:srgbClr val="404155"/>
                </a:solidFill>
                <a:latin typeface="Nobile" pitchFamily="34" charset="0"/>
                <a:ea typeface="Nobile" pitchFamily="34" charset="-122"/>
                <a:cs typeface="Nobile" pitchFamily="34" charset="-120"/>
              </a:rPr>
              <a:t>Mois 1–2</a:t>
            </a:r>
            <a:endParaRPr lang="en-US" sz="1800" dirty="0"/>
          </a:p>
        </p:txBody>
      </p:sp>
      <p:sp>
        <p:nvSpPr>
          <p:cNvPr id="10" name="Text 7"/>
          <p:cNvSpPr/>
          <p:nvPr/>
        </p:nvSpPr>
        <p:spPr>
          <a:xfrm>
            <a:off x="7931453" y="2014858"/>
            <a:ext cx="2003580" cy="717486"/>
          </a:xfrm>
          <a:prstGeom prst="rect">
            <a:avLst/>
          </a:prstGeom>
          <a:noFill/>
          <a:ln/>
        </p:spPr>
        <p:txBody>
          <a:bodyPr wrap="square" lIns="0" tIns="0" rIns="0" bIns="0" rtlCol="0" anchor="t"/>
          <a:lstStyle/>
          <a:p>
            <a:pPr algn="ctr" indent="0" marL="0">
              <a:lnSpc>
                <a:spcPts val="2800"/>
              </a:lnSpc>
              <a:buNone/>
            </a:pPr>
            <a:r>
              <a:rPr lang="en-US" sz="2250" dirty="0">
                <a:solidFill>
                  <a:srgbClr val="1B1B27"/>
                </a:solidFill>
                <a:latin typeface="Alexandria" pitchFamily="34" charset="0"/>
                <a:ea typeface="Alexandria" pitchFamily="34" charset="-122"/>
                <a:cs typeface="Alexandria" pitchFamily="34" charset="-120"/>
              </a:rPr>
              <a:t>Développement App</a:t>
            </a:r>
            <a:endParaRPr lang="en-US" sz="2250" dirty="0"/>
          </a:p>
        </p:txBody>
      </p:sp>
      <p:sp>
        <p:nvSpPr>
          <p:cNvPr id="11" name="Text 8"/>
          <p:cNvSpPr/>
          <p:nvPr/>
        </p:nvSpPr>
        <p:spPr>
          <a:xfrm>
            <a:off x="7931453" y="2834387"/>
            <a:ext cx="2003580" cy="267463"/>
          </a:xfrm>
          <a:prstGeom prst="rect">
            <a:avLst/>
          </a:prstGeom>
          <a:noFill/>
          <a:ln/>
        </p:spPr>
        <p:txBody>
          <a:bodyPr wrap="none" lIns="0" tIns="0" rIns="0" bIns="0" rtlCol="0" anchor="t"/>
          <a:lstStyle/>
          <a:p>
            <a:pPr algn="ctr" indent="0" marL="0">
              <a:lnSpc>
                <a:spcPts val="2100"/>
              </a:lnSpc>
              <a:buNone/>
            </a:pPr>
            <a:r>
              <a:rPr lang="en-US" sz="1800" dirty="0">
                <a:solidFill>
                  <a:srgbClr val="404155"/>
                </a:solidFill>
                <a:latin typeface="Nobile" pitchFamily="34" charset="0"/>
                <a:ea typeface="Nobile" pitchFamily="34" charset="-122"/>
                <a:cs typeface="Nobile" pitchFamily="34" charset="-120"/>
              </a:rPr>
              <a:t>Mois 3–5</a:t>
            </a:r>
            <a:endParaRPr lang="en-US" sz="1800" dirty="0"/>
          </a:p>
        </p:txBody>
      </p:sp>
      <p:sp>
        <p:nvSpPr>
          <p:cNvPr id="12" name="Text 9"/>
          <p:cNvSpPr/>
          <p:nvPr/>
        </p:nvSpPr>
        <p:spPr>
          <a:xfrm>
            <a:off x="686753" y="7498199"/>
            <a:ext cx="13256895" cy="292656"/>
          </a:xfrm>
          <a:prstGeom prst="rect">
            <a:avLst/>
          </a:prstGeom>
          <a:noFill/>
          <a:ln/>
        </p:spPr>
        <p:txBody>
          <a:bodyPr wrap="none" lIns="0" tIns="0" rIns="0" bIns="0" rtlCol="0" anchor="t"/>
          <a:lstStyle/>
          <a:p>
            <a:pPr algn="l" indent="0" marL="0">
              <a:lnSpc>
                <a:spcPts val="2300"/>
              </a:lnSpc>
              <a:buNone/>
            </a:pPr>
            <a:r>
              <a:rPr lang="en-US" sz="1500" dirty="0">
                <a:solidFill>
                  <a:srgbClr val="404155"/>
                </a:solidFill>
                <a:latin typeface="Nobile" pitchFamily="34" charset="0"/>
                <a:ea typeface="Nobile" pitchFamily="34" charset="-122"/>
                <a:cs typeface="Nobile" pitchFamily="34" charset="-120"/>
              </a:rPr>
              <a:t>Ce chronogramme détaillé assure une progression structurée du projet, de la conception au déploiement.</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797248"/>
            <a:ext cx="7115056" cy="708779"/>
          </a:xfrm>
          <a:prstGeom prst="rect">
            <a:avLst/>
          </a:prstGeom>
          <a:noFill/>
          <a:ln/>
        </p:spPr>
        <p:txBody>
          <a:bodyPr wrap="none" lIns="0" tIns="0" rIns="0" bIns="0" rtlCol="0" anchor="t"/>
          <a:lstStyle/>
          <a:p>
            <a:pPr algn="l" indent="0" marL="0">
              <a:lnSpc>
                <a:spcPts val="5550"/>
              </a:lnSpc>
              <a:buNone/>
            </a:pPr>
            <a:r>
              <a:rPr lang="en-US" sz="4450" dirty="0">
                <a:solidFill>
                  <a:srgbClr val="1B1B27"/>
                </a:solidFill>
                <a:latin typeface="Alexandria" pitchFamily="34" charset="0"/>
                <a:ea typeface="Alexandria" pitchFamily="34" charset="-122"/>
                <a:cs typeface="Alexandria" pitchFamily="34" charset="-120"/>
              </a:rPr>
              <a:t>Investissement et Impact</a:t>
            </a:r>
            <a:endParaRPr lang="en-US" sz="4450" dirty="0"/>
          </a:p>
        </p:txBody>
      </p:sp>
      <p:sp>
        <p:nvSpPr>
          <p:cNvPr id="4" name="Text 1"/>
          <p:cNvSpPr/>
          <p:nvPr/>
        </p:nvSpPr>
        <p:spPr>
          <a:xfrm>
            <a:off x="6280190" y="307300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B1B27"/>
                </a:solidFill>
                <a:latin typeface="Alexandria" pitchFamily="34" charset="0"/>
                <a:ea typeface="Alexandria" pitchFamily="34" charset="-122"/>
                <a:cs typeface="Alexandria" pitchFamily="34" charset="-120"/>
              </a:rPr>
              <a:t>Coûts Estimatifs</a:t>
            </a:r>
            <a:endParaRPr lang="en-US" sz="2200" dirty="0"/>
          </a:p>
        </p:txBody>
      </p:sp>
      <p:sp>
        <p:nvSpPr>
          <p:cNvPr id="5" name="Text 2"/>
          <p:cNvSpPr/>
          <p:nvPr/>
        </p:nvSpPr>
        <p:spPr>
          <a:xfrm>
            <a:off x="6280190" y="3654147"/>
            <a:ext cx="3501509" cy="213169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Serveurs/Cloud</a:t>
            </a:r>
            <a:endParaRPr lang="en-US" sz="1750" dirty="0"/>
          </a:p>
          <a:p>
            <a:pPr algn="l" marL="342900" indent="-342900">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Jeux de données</a:t>
            </a:r>
            <a:endParaRPr lang="en-US" sz="1750" dirty="0"/>
          </a:p>
          <a:p>
            <a:pPr algn="l" marL="342900" indent="-342900">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Développeurs</a:t>
            </a:r>
            <a:endParaRPr lang="en-US" sz="1750" dirty="0"/>
          </a:p>
          <a:p>
            <a:pPr algn="l" marL="342900" indent="-342900">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Matériel de test</a:t>
            </a:r>
            <a:endParaRPr lang="en-US" sz="1750" dirty="0"/>
          </a:p>
          <a:p>
            <a:pPr algn="l" marL="342900" indent="-342900">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Communication</a:t>
            </a:r>
            <a:endParaRPr lang="en-US" sz="1750" dirty="0"/>
          </a:p>
        </p:txBody>
      </p:sp>
      <p:sp>
        <p:nvSpPr>
          <p:cNvPr id="6" name="Text 3"/>
          <p:cNvSpPr/>
          <p:nvPr/>
        </p:nvSpPr>
        <p:spPr>
          <a:xfrm>
            <a:off x="10342721" y="307300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B1B27"/>
                </a:solidFill>
                <a:latin typeface="Alexandria" pitchFamily="34" charset="0"/>
                <a:ea typeface="Alexandria" pitchFamily="34" charset="-122"/>
                <a:cs typeface="Alexandria" pitchFamily="34" charset="-120"/>
              </a:rPr>
              <a:t>Résultats Attendus</a:t>
            </a:r>
            <a:endParaRPr lang="en-US" sz="2200" dirty="0"/>
          </a:p>
        </p:txBody>
      </p:sp>
      <p:sp>
        <p:nvSpPr>
          <p:cNvPr id="7" name="Text 4"/>
          <p:cNvSpPr/>
          <p:nvPr/>
        </p:nvSpPr>
        <p:spPr>
          <a:xfrm>
            <a:off x="10342721" y="3654147"/>
            <a:ext cx="3501509" cy="2698909"/>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Court terme : Application fonctionnelle testée.</a:t>
            </a:r>
            <a:endParaRPr lang="en-US" sz="1750" dirty="0"/>
          </a:p>
          <a:p>
            <a:pPr algn="l" marL="342900" indent="-342900">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Moyen terme : Amélioration du diagnostic précoce.</a:t>
            </a:r>
            <a:endParaRPr lang="en-US" sz="1750" dirty="0"/>
          </a:p>
          <a:p>
            <a:pPr algn="l" marL="342900" indent="-342900">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Long terme : Déploiement national, réduction de la mortalité.</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83206" y="548640"/>
            <a:ext cx="11910774" cy="582573"/>
          </a:xfrm>
          <a:prstGeom prst="rect">
            <a:avLst/>
          </a:prstGeom>
          <a:noFill/>
          <a:ln/>
        </p:spPr>
        <p:txBody>
          <a:bodyPr wrap="none" lIns="0" tIns="0" rIns="0" bIns="0" rtlCol="0" anchor="t"/>
          <a:lstStyle/>
          <a:p>
            <a:pPr algn="l" indent="0" marL="0">
              <a:lnSpc>
                <a:spcPts val="4550"/>
              </a:lnSpc>
              <a:buNone/>
            </a:pPr>
            <a:r>
              <a:rPr lang="en-US" sz="3650" dirty="0">
                <a:solidFill>
                  <a:srgbClr val="1B1B27"/>
                </a:solidFill>
                <a:latin typeface="Alexandria" pitchFamily="34" charset="0"/>
                <a:ea typeface="Alexandria" pitchFamily="34" charset="-122"/>
                <a:cs typeface="Alexandria" pitchFamily="34" charset="-120"/>
              </a:rPr>
              <a:t>Les Fondations Technologiques de \[Nom de l'App\]</a:t>
            </a:r>
            <a:endParaRPr lang="en-US" sz="3650" dirty="0"/>
          </a:p>
        </p:txBody>
      </p:sp>
      <p:sp>
        <p:nvSpPr>
          <p:cNvPr id="3" name="Text 1"/>
          <p:cNvSpPr/>
          <p:nvPr/>
        </p:nvSpPr>
        <p:spPr>
          <a:xfrm>
            <a:off x="883206" y="2731413"/>
            <a:ext cx="2330410" cy="291227"/>
          </a:xfrm>
          <a:prstGeom prst="rect">
            <a:avLst/>
          </a:prstGeom>
          <a:noFill/>
          <a:ln/>
        </p:spPr>
        <p:txBody>
          <a:bodyPr wrap="none" lIns="0" tIns="0" rIns="0" bIns="0" rtlCol="0" anchor="t"/>
          <a:lstStyle/>
          <a:p>
            <a:pPr algn="l" indent="0" marL="0">
              <a:lnSpc>
                <a:spcPts val="2250"/>
              </a:lnSpc>
              <a:buNone/>
            </a:pPr>
            <a:r>
              <a:rPr lang="en-US" sz="1800" dirty="0">
                <a:solidFill>
                  <a:srgbClr val="1B1B27"/>
                </a:solidFill>
                <a:latin typeface="Alexandria" pitchFamily="34" charset="0"/>
                <a:ea typeface="Alexandria" pitchFamily="34" charset="-122"/>
                <a:cs typeface="Alexandria" pitchFamily="34" charset="-120"/>
              </a:rPr>
              <a:t>Technologies Clés</a:t>
            </a:r>
            <a:endParaRPr lang="en-US" sz="1800" dirty="0"/>
          </a:p>
        </p:txBody>
      </p:sp>
      <p:sp>
        <p:nvSpPr>
          <p:cNvPr id="4" name="Text 2"/>
          <p:cNvSpPr/>
          <p:nvPr/>
        </p:nvSpPr>
        <p:spPr>
          <a:xfrm>
            <a:off x="883206" y="3175754"/>
            <a:ext cx="4206716" cy="1737360"/>
          </a:xfrm>
          <a:prstGeom prst="rect">
            <a:avLst/>
          </a:prstGeom>
          <a:noFill/>
          <a:ln/>
        </p:spPr>
        <p:txBody>
          <a:bodyPr wrap="square" lIns="0" tIns="0" rIns="0" bIns="0" rtlCol="0" anchor="t"/>
          <a:lstStyle/>
          <a:p>
            <a:pPr algn="l" marL="342900" indent="-342900">
              <a:lnSpc>
                <a:spcPts val="2100"/>
              </a:lnSpc>
              <a:buSzPct val="100000"/>
              <a:buChar char="•"/>
            </a:pPr>
            <a:r>
              <a:rPr lang="en-US" sz="1450" b="1" dirty="0">
                <a:solidFill>
                  <a:srgbClr val="404155"/>
                </a:solidFill>
                <a:latin typeface="Nobile" pitchFamily="34" charset="0"/>
                <a:ea typeface="Nobile" pitchFamily="34" charset="-122"/>
                <a:cs typeface="Nobile" pitchFamily="34" charset="-120"/>
              </a:rPr>
              <a:t>Frontend :</a:t>
            </a:r>
            <a:pPr algn="l" indent="0" marL="0">
              <a:lnSpc>
                <a:spcPts val="2100"/>
              </a:lnSpc>
              <a:buNone/>
            </a:pPr>
            <a:r>
              <a:rPr lang="en-US" sz="1450" dirty="0">
                <a:solidFill>
                  <a:srgbClr val="404155"/>
                </a:solidFill>
                <a:latin typeface="Nobile" pitchFamily="34" charset="0"/>
                <a:ea typeface="Nobile" pitchFamily="34" charset="-122"/>
                <a:cs typeface="Nobile" pitchFamily="34" charset="-120"/>
              </a:rPr>
              <a:t> React.js pour une interface fluide.</a:t>
            </a:r>
            <a:endParaRPr lang="en-US" sz="1450" dirty="0"/>
          </a:p>
          <a:p>
            <a:pPr algn="l" marL="342900" indent="-342900">
              <a:lnSpc>
                <a:spcPts val="2100"/>
              </a:lnSpc>
              <a:buSzPct val="100000"/>
              <a:buChar char="•"/>
            </a:pPr>
            <a:r>
              <a:rPr lang="en-US" sz="1450" b="1" dirty="0">
                <a:solidFill>
                  <a:srgbClr val="404155"/>
                </a:solidFill>
                <a:latin typeface="Nobile" pitchFamily="34" charset="0"/>
                <a:ea typeface="Nobile" pitchFamily="34" charset="-122"/>
                <a:cs typeface="Nobile" pitchFamily="34" charset="-120"/>
              </a:rPr>
              <a:t>Backend :</a:t>
            </a:r>
            <a:pPr algn="l" indent="0" marL="0">
              <a:lnSpc>
                <a:spcPts val="2100"/>
              </a:lnSpc>
              <a:buNone/>
            </a:pPr>
            <a:r>
              <a:rPr lang="en-US" sz="1450" dirty="0">
                <a:solidFill>
                  <a:srgbClr val="404155"/>
                </a:solidFill>
                <a:latin typeface="Nobile" pitchFamily="34" charset="0"/>
                <a:ea typeface="Nobile" pitchFamily="34" charset="-122"/>
                <a:cs typeface="Nobile" pitchFamily="34" charset="-120"/>
              </a:rPr>
              <a:t> Node.js ou Python (Django/Flask) pour la robustesse.</a:t>
            </a:r>
            <a:endParaRPr lang="en-US" sz="1450" dirty="0"/>
          </a:p>
          <a:p>
            <a:pPr algn="l" marL="342900" indent="-342900">
              <a:lnSpc>
                <a:spcPts val="2100"/>
              </a:lnSpc>
              <a:buSzPct val="100000"/>
              <a:buChar char="•"/>
            </a:pPr>
            <a:r>
              <a:rPr lang="en-US" sz="1450" b="1" dirty="0">
                <a:solidFill>
                  <a:srgbClr val="404155"/>
                </a:solidFill>
                <a:latin typeface="Nobile" pitchFamily="34" charset="0"/>
                <a:ea typeface="Nobile" pitchFamily="34" charset="-122"/>
                <a:cs typeface="Nobile" pitchFamily="34" charset="-120"/>
              </a:rPr>
              <a:t>IA :</a:t>
            </a:r>
            <a:pPr algn="l" indent="0" marL="0">
              <a:lnSpc>
                <a:spcPts val="2100"/>
              </a:lnSpc>
              <a:buNone/>
            </a:pPr>
            <a:r>
              <a:rPr lang="en-US" sz="1450" dirty="0">
                <a:solidFill>
                  <a:srgbClr val="404155"/>
                </a:solidFill>
                <a:latin typeface="Nobile" pitchFamily="34" charset="0"/>
                <a:ea typeface="Nobile" pitchFamily="34" charset="-122"/>
                <a:cs typeface="Nobile" pitchFamily="34" charset="-120"/>
              </a:rPr>
              <a:t> Python avec TensorFlow ou PyTorch pour le Deep Learning.</a:t>
            </a:r>
            <a:endParaRPr lang="en-US" sz="1450" dirty="0"/>
          </a:p>
        </p:txBody>
      </p:sp>
      <p:sp>
        <p:nvSpPr>
          <p:cNvPr id="5" name="Text 3"/>
          <p:cNvSpPr/>
          <p:nvPr/>
        </p:nvSpPr>
        <p:spPr>
          <a:xfrm>
            <a:off x="883206" y="5066228"/>
            <a:ext cx="2369939" cy="291227"/>
          </a:xfrm>
          <a:prstGeom prst="rect">
            <a:avLst/>
          </a:prstGeom>
          <a:noFill/>
          <a:ln/>
        </p:spPr>
        <p:txBody>
          <a:bodyPr wrap="none" lIns="0" tIns="0" rIns="0" bIns="0" rtlCol="0" anchor="t"/>
          <a:lstStyle/>
          <a:p>
            <a:pPr algn="l" indent="0" marL="0">
              <a:lnSpc>
                <a:spcPts val="2250"/>
              </a:lnSpc>
              <a:buNone/>
            </a:pPr>
            <a:r>
              <a:rPr lang="en-US" sz="1800" dirty="0">
                <a:solidFill>
                  <a:srgbClr val="1B1B27"/>
                </a:solidFill>
                <a:latin typeface="Alexandria" pitchFamily="34" charset="0"/>
                <a:ea typeface="Alexandria" pitchFamily="34" charset="-122"/>
                <a:cs typeface="Alexandria" pitchFamily="34" charset="-120"/>
              </a:rPr>
              <a:t>Pourquoi une PWA ?</a:t>
            </a:r>
            <a:endParaRPr lang="en-US" sz="1800" dirty="0"/>
          </a:p>
        </p:txBody>
      </p:sp>
      <p:sp>
        <p:nvSpPr>
          <p:cNvPr id="6" name="Text 4"/>
          <p:cNvSpPr/>
          <p:nvPr/>
        </p:nvSpPr>
        <p:spPr>
          <a:xfrm>
            <a:off x="883206" y="5510570"/>
            <a:ext cx="4206716" cy="815102"/>
          </a:xfrm>
          <a:prstGeom prst="rect">
            <a:avLst/>
          </a:prstGeom>
          <a:noFill/>
          <a:ln/>
        </p:spPr>
        <p:txBody>
          <a:bodyPr wrap="square" lIns="0" tIns="0" rIns="0" bIns="0" rtlCol="0" anchor="t"/>
          <a:lstStyle/>
          <a:p>
            <a:pPr algn="l" indent="0" marL="0">
              <a:lnSpc>
                <a:spcPts val="2100"/>
              </a:lnSpc>
              <a:buNone/>
            </a:pPr>
            <a:r>
              <a:rPr lang="en-US" sz="1450" dirty="0">
                <a:solidFill>
                  <a:srgbClr val="404155"/>
                </a:solidFill>
                <a:latin typeface="Nobile" pitchFamily="34" charset="0"/>
                <a:ea typeface="Nobile" pitchFamily="34" charset="-122"/>
                <a:cs typeface="Nobile" pitchFamily="34" charset="-120"/>
              </a:rPr>
              <a:t>Expérience "comme une app" sans store, accessible même avec une connexion faible, et évolutive.</a:t>
            </a:r>
            <a:endParaRPr lang="en-US" sz="1450" dirty="0"/>
          </a:p>
        </p:txBody>
      </p:sp>
      <p:pic>
        <p:nvPicPr>
          <p:cNvPr id="7" name="Image 0" descr="preencoded.png">    </p:cNvPr>
          <p:cNvPicPr>
            <a:picLocks noChangeAspect="1"/>
          </p:cNvPicPr>
          <p:nvPr/>
        </p:nvPicPr>
        <p:blipFill>
          <a:blip r:embed="rId1"/>
          <a:stretch>
            <a:fillRect/>
          </a:stretch>
        </p:blipFill>
        <p:spPr>
          <a:xfrm>
            <a:off x="5552361" y="1533287"/>
            <a:ext cx="8202216" cy="4577953"/>
          </a:xfrm>
          <a:prstGeom prst="rect">
            <a:avLst/>
          </a:prstGeom>
        </p:spPr>
      </p:pic>
      <p:sp>
        <p:nvSpPr>
          <p:cNvPr id="8" name="Text 5"/>
          <p:cNvSpPr/>
          <p:nvPr/>
        </p:nvSpPr>
        <p:spPr>
          <a:xfrm>
            <a:off x="5552361" y="6283523"/>
            <a:ext cx="3998476" cy="291227"/>
          </a:xfrm>
          <a:prstGeom prst="rect">
            <a:avLst/>
          </a:prstGeom>
          <a:noFill/>
          <a:ln/>
        </p:spPr>
        <p:txBody>
          <a:bodyPr wrap="none" lIns="0" tIns="0" rIns="0" bIns="0" rtlCol="0" anchor="t"/>
          <a:lstStyle/>
          <a:p>
            <a:pPr algn="l" indent="0" marL="0">
              <a:lnSpc>
                <a:spcPts val="2250"/>
              </a:lnSpc>
              <a:buNone/>
            </a:pPr>
            <a:r>
              <a:rPr lang="en-US" sz="1800" dirty="0">
                <a:solidFill>
                  <a:srgbClr val="1B1B27"/>
                </a:solidFill>
                <a:latin typeface="Alexandria" pitchFamily="34" charset="0"/>
                <a:ea typeface="Alexandria" pitchFamily="34" charset="-122"/>
                <a:cs typeface="Alexandria" pitchFamily="34" charset="-120"/>
              </a:rPr>
              <a:t>Entraînement de l'IA &amp; Algorithme</a:t>
            </a:r>
            <a:endParaRPr lang="en-US" sz="1800" dirty="0"/>
          </a:p>
        </p:txBody>
      </p:sp>
      <p:sp>
        <p:nvSpPr>
          <p:cNvPr id="9" name="Text 6"/>
          <p:cNvSpPr/>
          <p:nvPr/>
        </p:nvSpPr>
        <p:spPr>
          <a:xfrm>
            <a:off x="5552361" y="6727865"/>
            <a:ext cx="8202216" cy="815102"/>
          </a:xfrm>
          <a:prstGeom prst="rect">
            <a:avLst/>
          </a:prstGeom>
          <a:noFill/>
          <a:ln/>
        </p:spPr>
        <p:txBody>
          <a:bodyPr wrap="square" lIns="0" tIns="0" rIns="0" bIns="0" rtlCol="0" anchor="t"/>
          <a:lstStyle/>
          <a:p>
            <a:pPr algn="l" indent="0" marL="0">
              <a:lnSpc>
                <a:spcPts val="2100"/>
              </a:lnSpc>
              <a:buNone/>
            </a:pPr>
            <a:r>
              <a:rPr lang="en-US" sz="1450" dirty="0">
                <a:solidFill>
                  <a:srgbClr val="404155"/>
                </a:solidFill>
                <a:latin typeface="Nobile" pitchFamily="34" charset="0"/>
                <a:ea typeface="Nobile" pitchFamily="34" charset="-122"/>
                <a:cs typeface="Nobile" pitchFamily="34" charset="-120"/>
              </a:rPr>
              <a:t>Utilisation de jeux de données publics (ex: ChestX-ray2017) et/ou locaux anonymisés. Algorithme : Réseaux de Neurones Convolutifs (CNN) pour la classification d'images médicales.</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2026-03-02T13:36:46Z</dcterms:created>
  <dcterms:modified xsi:type="dcterms:W3CDTF">2026-03-02T13:36:46Z</dcterms:modified>
</cp:coreProperties>
</file>